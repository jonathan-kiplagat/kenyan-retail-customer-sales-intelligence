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1B1B1B"/>
                </a:solidFill>
              </a:rPr>
              <a:t>Monthly net revenue (KES thousands)</a:t>
            </a:r>
          </a:p>
        </c:rich>
      </c:tx>
      <c:layout/>
      <c:overlay val="0"/>
    </c:title>
    <c:autoTitleDeleted val="0"/>
    <c:plotArea>
      <c:lineChart>
        <c:grouping val="standard"/>
        <c:varyColors val="0"/>
        <c:ser>
          <c:idx val="0"/>
          <c:order val="0"/>
          <c:tx>
            <c:strRef>
              <c:f>Sheet1!$B$1</c:f>
              <c:strCache>
                <c:ptCount val="1"/>
                <c:pt idx="0">
                  <c:v>2024</c:v>
                </c:pt>
              </c:strCache>
            </c:strRef>
          </c:tx>
          <c:spPr>
            <a:ln w="28575">
              <a:solidFill>
                <a:srgbClr val="2A78D6"/>
              </a:solidFill>
            </a:ln>
          </c:spPr>
          <c:marker>
            <c:symbol val="circle"/>
            <c:size val="7"/>
            <c:spPr>
              <a:solidFill>
                <a:srgbClr val="2A78D6"/>
              </a:solidFill>
              <a:ln>
                <a:solidFill>
                  <a:srgbClr val="FFFFFF"/>
                </a:solidFill>
              </a:ln>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64.546</c:v>
                </c:pt>
                <c:pt idx="1">
                  <c:v>73.164</c:v>
                </c:pt>
                <c:pt idx="2">
                  <c:v>106.284</c:v>
                </c:pt>
                <c:pt idx="3">
                  <c:v>106.347</c:v>
                </c:pt>
                <c:pt idx="4">
                  <c:v>93.058</c:v>
                </c:pt>
                <c:pt idx="5">
                  <c:v>76.564</c:v>
                </c:pt>
                <c:pt idx="6">
                  <c:v>67.534</c:v>
                </c:pt>
                <c:pt idx="7">
                  <c:v>72.57</c:v>
                </c:pt>
                <c:pt idx="8">
                  <c:v>104.45</c:v>
                </c:pt>
                <c:pt idx="9">
                  <c:v>60.595</c:v>
                </c:pt>
                <c:pt idx="10">
                  <c:v>99.185</c:v>
                </c:pt>
                <c:pt idx="11">
                  <c:v>119.317</c:v>
                </c:pt>
              </c:numCache>
            </c:numRef>
          </c:val>
          <c:smooth val="0"/>
        </c:ser>
        <c:ser>
          <c:idx val="1"/>
          <c:order val="1"/>
          <c:tx>
            <c:strRef>
              <c:f>Sheet1!$C$1</c:f>
              <c:strCache>
                <c:ptCount val="1"/>
                <c:pt idx="0">
                  <c:v>2025</c:v>
                </c:pt>
              </c:strCache>
            </c:strRef>
          </c:tx>
          <c:spPr>
            <a:ln w="28575">
              <a:solidFill>
                <a:srgbClr val="EB6834"/>
              </a:solidFill>
            </a:ln>
          </c:spPr>
          <c:marker>
            <c:symbol val="circle"/>
            <c:size val="7"/>
            <c:spPr>
              <a:solidFill>
                <a:srgbClr val="EB6834"/>
              </a:solidFill>
              <a:ln>
                <a:solidFill>
                  <a:srgbClr val="FFFFFF"/>
                </a:solidFill>
              </a:ln>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70.471</c:v>
                </c:pt>
                <c:pt idx="1">
                  <c:v>86.167</c:v>
                </c:pt>
                <c:pt idx="2">
                  <c:v>84.03</c:v>
                </c:pt>
                <c:pt idx="3">
                  <c:v>91.047</c:v>
                </c:pt>
                <c:pt idx="4">
                  <c:v>98.379</c:v>
                </c:pt>
                <c:pt idx="5">
                  <c:v>111.928</c:v>
                </c:pt>
                <c:pt idx="6">
                  <c:v>109.353</c:v>
                </c:pt>
                <c:pt idx="7">
                  <c:v>78.915</c:v>
                </c:pt>
                <c:pt idx="8">
                  <c:v>78.927</c:v>
                </c:pt>
                <c:pt idx="9">
                  <c:v>96.734</c:v>
                </c:pt>
                <c:pt idx="10">
                  <c:v>88.843</c:v>
                </c:pt>
                <c:pt idx="11">
                  <c:v>140.808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9DFDB"/>
            </a:solidFill>
          </a:ln>
        </c:spPr>
        <c:txPr>
          <a:bodyPr/>
          <a:lstStyle/>
          <a:p>
            <a:pPr>
              <a:defRPr sz="1200"/>
            </a:pPr>
          </a:p>
        </c:txPr>
        <c:crossAx val="2140495176"/>
        <c:crosses val="autoZero"/>
        <c:auto val="1"/>
        <c:lblAlgn val="ctr"/>
        <c:lblOffset val="100"/>
        <c:noMultiLvlLbl val="0"/>
      </c:catAx>
      <c:valAx>
        <c:axId val="2140495176"/>
        <c:scaling/>
        <c:delete val="0"/>
        <c:axPos val="l"/>
        <c:majorGridlines>
          <c:spPr>
            <a:ln>
              <a:solidFill>
                <a:srgbClr val="D9DFDB"/>
              </a:solidFill>
            </a:ln>
          </c:spPr>
        </c:majorGridlines>
        <c:numFmt formatCode="#,##0&quot;K&quot;" sourceLinked="0"/>
        <c:majorTickMark val="out"/>
        <c:minorTickMark val="none"/>
        <c:tickLblPos val="nextTo"/>
        <c:spPr>
          <a:ln>
            <a:noFill/>
          </a:ln>
        </c:spPr>
        <c:txPr>
          <a:bodyPr/>
          <a:lstStyle/>
          <a:p>
            <a:pPr>
              <a:defRPr sz="1200"/>
            </a:pPr>
          </a:p>
        </c:txPr>
        <c:crossAx val="2118791784"/>
        <c:crosses val="autoZero"/>
      </c:valAx>
    </c:plotArea>
    <c:legend>
      <c:legendPos val="t"/>
      <c:layout/>
      <c:overlay val="0"/>
      <c:txPr>
        <a:bodyPr/>
        <a:lstStyle/>
        <a:p>
          <a:pPr>
            <a:defRPr sz="1200"/>
          </a:pPr>
        </a:p>
      </c:txPr>
    </c:legend>
    <c:plotVisOnly val="1"/>
    <c:dispBlanksAs val="gap"/>
    <c:showDLblsOverMax val="0"/>
  </c:chart>
  <c:txPr>
    <a:bodyPr/>
    <a:lstStyle/>
    <a:p>
      <a:pPr>
        <a:defRPr sz="1200">
          <a:solidFill>
            <a:srgbClr val="5F6B6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 of revenue %</c:v>
                </c:pt>
              </c:strCache>
            </c:strRef>
          </c:tx>
          <c:spPr>
            <a:solidFill>
              <a:srgbClr val="2A78D6"/>
            </a:solidFill>
          </c:spPr>
          <c:cat>
            <c:strRef>
              <c:f>Sheet1!$A$2:$A$7</c:f>
              <c:strCache>
                <c:ptCount val="6"/>
                <c:pt idx="0">
                  <c:v>Clothing</c:v>
                </c:pt>
                <c:pt idx="1">
                  <c:v>Electronics</c:v>
                </c:pt>
                <c:pt idx="2">
                  <c:v>Food and Groceries</c:v>
                </c:pt>
                <c:pt idx="3">
                  <c:v>Personal Care</c:v>
                </c:pt>
                <c:pt idx="4">
                  <c:v>Household</c:v>
                </c:pt>
                <c:pt idx="5">
                  <c:v>Beverages</c:v>
                </c:pt>
              </c:strCache>
            </c:strRef>
          </c:cat>
          <c:val>
            <c:numRef>
              <c:f>Sheet1!$B$2:$B$7</c:f>
              <c:numCache>
                <c:formatCode>General</c:formatCode>
                <c:ptCount val="6"/>
                <c:pt idx="0">
                  <c:v>27.3</c:v>
                </c:pt>
                <c:pt idx="1">
                  <c:v>18.8</c:v>
                </c:pt>
                <c:pt idx="2">
                  <c:v>25.4</c:v>
                </c:pt>
                <c:pt idx="3">
                  <c:v>8.6</c:v>
                </c:pt>
                <c:pt idx="4">
                  <c:v>9.2</c:v>
                </c:pt>
                <c:pt idx="5">
                  <c:v>10.7</c:v>
                </c:pt>
              </c:numCache>
            </c:numRef>
          </c:val>
        </c:ser>
        <c:ser>
          <c:idx val="1"/>
          <c:order val="1"/>
          <c:tx>
            <c:strRef>
              <c:f>Sheet1!$C$1</c:f>
              <c:strCache>
                <c:ptCount val="1"/>
                <c:pt idx="0">
                  <c:v>Share of profit %</c:v>
                </c:pt>
              </c:strCache>
            </c:strRef>
          </c:tx>
          <c:spPr>
            <a:solidFill>
              <a:srgbClr val="EB6834"/>
            </a:solidFill>
          </c:spPr>
          <c:cat>
            <c:strRef>
              <c:f>Sheet1!$A$2:$A$7</c:f>
              <c:strCache>
                <c:ptCount val="6"/>
                <c:pt idx="0">
                  <c:v>Clothing</c:v>
                </c:pt>
                <c:pt idx="1">
                  <c:v>Electronics</c:v>
                </c:pt>
                <c:pt idx="2">
                  <c:v>Food and Groceries</c:v>
                </c:pt>
                <c:pt idx="3">
                  <c:v>Personal Care</c:v>
                </c:pt>
                <c:pt idx="4">
                  <c:v>Household</c:v>
                </c:pt>
                <c:pt idx="5">
                  <c:v>Beverages</c:v>
                </c:pt>
              </c:strCache>
            </c:strRef>
          </c:cat>
          <c:val>
            <c:numRef>
              <c:f>Sheet1!$C$2:$C$7</c:f>
              <c:numCache>
                <c:formatCode>General</c:formatCode>
                <c:ptCount val="6"/>
                <c:pt idx="0">
                  <c:v>46.3</c:v>
                </c:pt>
                <c:pt idx="1">
                  <c:v>14.0</c:v>
                </c:pt>
                <c:pt idx="2">
                  <c:v>12.0</c:v>
                </c:pt>
                <c:pt idx="3">
                  <c:v>9.9</c:v>
                </c:pt>
                <c:pt idx="4">
                  <c:v>8.9</c:v>
                </c:pt>
                <c:pt idx="5">
                  <c:v>8.8</c:v>
                </c:pt>
              </c:numCache>
            </c:numRef>
          </c:val>
        </c:ser>
        <c:dLbls>
          <c:numFmt formatCode="0&quot;%&quot;" sourceLinked="0"/>
          <c:txPr>
            <a:bodyPr/>
            <a:lstStyle/>
            <a:p>
              <a:pPr>
                <a:defRPr sz="1100">
                  <a:solidFill>
                    <a:srgbClr val="1B1B1B"/>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9DFDB"/>
            </a:solidFill>
          </a:ln>
        </c:spPr>
        <c:txPr>
          <a:bodyPr/>
          <a:lstStyle/>
          <a:p>
            <a:pPr>
              <a:defRPr sz="1200"/>
            </a:pPr>
          </a:p>
        </c:txPr>
        <c:crossAx val="-2113994440"/>
        <c:crosses val="autoZero"/>
        <c:auto val="1"/>
        <c:lblAlgn val="ctr"/>
        <c:lblOffset val="100"/>
        <c:noMultiLvlLbl val="0"/>
      </c:catAx>
      <c:valAx>
        <c:axId val="-2113994440"/>
        <c:scaling/>
        <c:delete/>
        <c:axPos val="l"/>
        <c:majorTickMark val="out"/>
        <c:minorTickMark val="none"/>
        <c:tickLblPos val="nextTo"/>
        <c:spPr>
          <a:ln>
            <a:noFill/>
          </a:ln>
        </c:spPr>
        <c:txPr>
          <a:bodyPr/>
          <a:lstStyle/>
          <a:p>
            <a:pPr>
              <a:defRPr sz="1200"/>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5F6B6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1B1B1B"/>
                </a:solidFill>
              </a:rPr>
              <a:t>Customers by RFM segment (31 Dec 2025)</a:t>
            </a:r>
          </a:p>
        </c:rich>
      </c:tx>
      <c:layout/>
      <c:overlay val="0"/>
    </c:title>
    <c:autoTitleDeleted val="0"/>
    <c:plotArea>
      <c:barChart>
        <c:barDir val="bar"/>
        <c:grouping val="clustered"/>
        <c:ser>
          <c:idx val="0"/>
          <c:order val="0"/>
          <c:tx>
            <c:strRef>
              <c:f>Sheet1!$B$1</c:f>
              <c:strCache>
                <c:ptCount val="1"/>
                <c:pt idx="0">
                  <c:v>Customers</c:v>
                </c:pt>
              </c:strCache>
            </c:strRef>
          </c:tx>
          <c:spPr>
            <a:solidFill>
              <a:srgbClr val="D9DFDB"/>
            </a:solidFill>
          </c:spPr>
          <c:dPt>
            <c:idx val="3"/>
            <c:spPr>
              <a:solidFill>
                <a:srgbClr val="EB6834"/>
              </a:solidFill>
            </c:spPr>
          </c:dPt>
          <c:dPt>
            <c:idx val="4"/>
            <c:spPr>
              <a:solidFill>
                <a:srgbClr val="EB6834"/>
              </a:solidFill>
            </c:spPr>
          </c:dPt>
          <c:dPt>
            <c:idx val="8"/>
            <c:spPr>
              <a:solidFill>
                <a:srgbClr val="12372A"/>
              </a:solidFill>
            </c:spPr>
          </c:dPt>
          <c:cat>
            <c:strRef>
              <c:f>Sheet1!$A$2:$A$10</c:f>
              <c:strCache>
                <c:ptCount val="9"/>
                <c:pt idx="0">
                  <c:v>Lost</c:v>
                </c:pt>
                <c:pt idx="1">
                  <c:v>Hibernating</c:v>
                </c:pt>
                <c:pt idx="2">
                  <c:v>Needs Attention</c:v>
                </c:pt>
                <c:pt idx="3">
                  <c:v>At Risk</c:v>
                </c:pt>
                <c:pt idx="4">
                  <c:v>Cannot Lose Them</c:v>
                </c:pt>
                <c:pt idx="5">
                  <c:v>New / Recent One-off</c:v>
                </c:pt>
                <c:pt idx="6">
                  <c:v>Potential Loyalists</c:v>
                </c:pt>
                <c:pt idx="7">
                  <c:v>Loyal Customers</c:v>
                </c:pt>
                <c:pt idx="8">
                  <c:v>Champions</c:v>
                </c:pt>
              </c:strCache>
            </c:strRef>
          </c:cat>
          <c:val>
            <c:numRef>
              <c:f>Sheet1!$B$2:$B$10</c:f>
              <c:numCache>
                <c:formatCode>General</c:formatCode>
                <c:ptCount val="9"/>
                <c:pt idx="0">
                  <c:v>395</c:v>
                </c:pt>
                <c:pt idx="1">
                  <c:v>413</c:v>
                </c:pt>
                <c:pt idx="2">
                  <c:v>394</c:v>
                </c:pt>
                <c:pt idx="3">
                  <c:v>24</c:v>
                </c:pt>
                <c:pt idx="4">
                  <c:v>31</c:v>
                </c:pt>
                <c:pt idx="5">
                  <c:v>361</c:v>
                </c:pt>
                <c:pt idx="6">
                  <c:v>67</c:v>
                </c:pt>
                <c:pt idx="7">
                  <c:v>35</c:v>
                </c:pt>
                <c:pt idx="8">
                  <c:v>68</c:v>
                </c:pt>
              </c:numCache>
            </c:numRef>
          </c:val>
        </c:ser>
        <c:dLbls>
          <c:txPr>
            <a:bodyPr/>
            <a:lstStyle/>
            <a:p>
              <a:pPr>
                <a:defRPr sz="1100">
                  <a:solidFill>
                    <a:srgbClr val="1B1B1B"/>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D9DFDB"/>
            </a:solid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200">
          <a:solidFill>
            <a:srgbClr val="5F6B66"/>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1B1B1B"/>
                </a:solidFill>
              </a:rPr>
              <a:t>Monthly revenue: actual vs one-month-ahead forecast (KES thousands)</a:t>
            </a:r>
          </a:p>
        </c:rich>
      </c:tx>
      <c:layout/>
      <c:overlay val="0"/>
    </c:title>
    <c:autoTitleDeleted val="0"/>
    <c:plotArea>
      <c:lineChart>
        <c:grouping val="standard"/>
        <c:varyColors val="0"/>
        <c:ser>
          <c:idx val="0"/>
          <c:order val="0"/>
          <c:tx>
            <c:strRef>
              <c:f>Sheet1!$B$1</c:f>
              <c:strCache>
                <c:ptCount val="1"/>
                <c:pt idx="0">
                  <c:v>Actual</c:v>
                </c:pt>
              </c:strCache>
            </c:strRef>
          </c:tx>
          <c:spPr>
            <a:ln w="28575">
              <a:solidFill>
                <a:srgbClr val="1B1B1B"/>
              </a:solidFill>
            </a:ln>
          </c:spPr>
          <c:marker>
            <c:symbol val="circle"/>
            <c:size val="6"/>
            <c:spPr>
              <a:solidFill>
                <a:srgbClr val="1B1B1B"/>
              </a:solidFill>
              <a:ln>
                <a:solidFill>
                  <a:srgbClr val="1B1B1B"/>
                </a:solidFill>
              </a:ln>
            </c:spPr>
          </c:marker>
          <c:cat>
            <c:strRef>
              <c:f>Sheet1!$A$2:$A$26</c:f>
              <c:strCache>
                <c:ptCount val="25"/>
                <c:pt idx="0">
                  <c:v>Jan 24</c:v>
                </c:pt>
                <c:pt idx="1">
                  <c:v>Feb 24</c:v>
                </c:pt>
                <c:pt idx="2">
                  <c:v>Mar 24</c:v>
                </c:pt>
                <c:pt idx="3">
                  <c:v>Apr 24</c:v>
                </c:pt>
                <c:pt idx="4">
                  <c:v>May 24</c:v>
                </c:pt>
                <c:pt idx="5">
                  <c:v>Jun 24</c:v>
                </c:pt>
                <c:pt idx="6">
                  <c:v>Jul 24</c:v>
                </c:pt>
                <c:pt idx="7">
                  <c:v>Aug 24</c:v>
                </c:pt>
                <c:pt idx="8">
                  <c:v>Sep 24</c:v>
                </c:pt>
                <c:pt idx="9">
                  <c:v>Oct 24</c:v>
                </c:pt>
                <c:pt idx="10">
                  <c:v>Nov 24</c:v>
                </c:pt>
                <c:pt idx="11">
                  <c:v>Dec 24</c:v>
                </c:pt>
                <c:pt idx="12">
                  <c:v>Jan 25</c:v>
                </c:pt>
                <c:pt idx="13">
                  <c:v>Feb 25</c:v>
                </c:pt>
                <c:pt idx="14">
                  <c:v>Mar 25</c:v>
                </c:pt>
                <c:pt idx="15">
                  <c:v>Apr 25</c:v>
                </c:pt>
                <c:pt idx="16">
                  <c:v>May 25</c:v>
                </c:pt>
                <c:pt idx="17">
                  <c:v>Jun 25</c:v>
                </c:pt>
                <c:pt idx="18">
                  <c:v>Jul 25</c:v>
                </c:pt>
                <c:pt idx="19">
                  <c:v>Aug 25</c:v>
                </c:pt>
                <c:pt idx="20">
                  <c:v>Sep 25</c:v>
                </c:pt>
                <c:pt idx="21">
                  <c:v>Oct 25</c:v>
                </c:pt>
                <c:pt idx="22">
                  <c:v>Nov 25</c:v>
                </c:pt>
                <c:pt idx="23">
                  <c:v>Dec 25</c:v>
                </c:pt>
                <c:pt idx="24">
                  <c:v>Jan 26</c:v>
                </c:pt>
              </c:strCache>
            </c:strRef>
          </c:cat>
          <c:val>
            <c:numRef>
              <c:f>Sheet1!$B$2:$B$26</c:f>
              <c:numCache>
                <c:formatCode>General</c:formatCode>
                <c:ptCount val="25"/>
                <c:pt idx="0">
                  <c:v>64.546</c:v>
                </c:pt>
                <c:pt idx="1">
                  <c:v>73.164</c:v>
                </c:pt>
                <c:pt idx="2">
                  <c:v>106.284</c:v>
                </c:pt>
                <c:pt idx="3">
                  <c:v>106.347</c:v>
                </c:pt>
                <c:pt idx="4">
                  <c:v>93.058</c:v>
                </c:pt>
                <c:pt idx="5">
                  <c:v>76.564</c:v>
                </c:pt>
                <c:pt idx="6">
                  <c:v>67.534</c:v>
                </c:pt>
                <c:pt idx="7">
                  <c:v>72.57</c:v>
                </c:pt>
                <c:pt idx="8">
                  <c:v>104.45</c:v>
                </c:pt>
                <c:pt idx="9">
                  <c:v>60.595</c:v>
                </c:pt>
                <c:pt idx="10">
                  <c:v>99.185</c:v>
                </c:pt>
                <c:pt idx="11">
                  <c:v>119.317</c:v>
                </c:pt>
                <c:pt idx="12">
                  <c:v>70.471</c:v>
                </c:pt>
                <c:pt idx="13">
                  <c:v>86.167</c:v>
                </c:pt>
                <c:pt idx="14">
                  <c:v>84.03</c:v>
                </c:pt>
                <c:pt idx="15">
                  <c:v>91.047</c:v>
                </c:pt>
                <c:pt idx="16">
                  <c:v>98.379</c:v>
                </c:pt>
                <c:pt idx="17">
                  <c:v>111.928</c:v>
                </c:pt>
                <c:pt idx="18">
                  <c:v>109.353</c:v>
                </c:pt>
                <c:pt idx="19">
                  <c:v>78.915</c:v>
                </c:pt>
                <c:pt idx="20">
                  <c:v>78.927</c:v>
                </c:pt>
                <c:pt idx="21">
                  <c:v>96.734</c:v>
                </c:pt>
                <c:pt idx="22">
                  <c:v>88.843</c:v>
                </c:pt>
                <c:pt idx="23">
                  <c:v>140.808</c:v>
                </c:pt>
              </c:numCache>
            </c:numRef>
          </c:val>
          <c:smooth val="0"/>
        </c:ser>
        <c:ser>
          <c:idx val="1"/>
          <c:order val="1"/>
          <c:tx>
            <c:strRef>
              <c:f>Sheet1!$C$1</c:f>
              <c:strCache>
                <c:ptCount val="1"/>
                <c:pt idx="0">
                  <c:v>Holt forecast (selected)</c:v>
                </c:pt>
              </c:strCache>
            </c:strRef>
          </c:tx>
          <c:spPr>
            <a:ln w="25400">
              <a:solidFill>
                <a:srgbClr val="2A78D6"/>
              </a:solidFill>
            </a:ln>
          </c:spPr>
          <c:marker>
            <c:symbol val="circle"/>
            <c:size val="6"/>
            <c:spPr>
              <a:solidFill>
                <a:srgbClr val="2A78D6"/>
              </a:solidFill>
              <a:ln>
                <a:solidFill>
                  <a:srgbClr val="2A78D6"/>
                </a:solidFill>
              </a:ln>
            </c:spPr>
          </c:marker>
          <c:cat>
            <c:strRef>
              <c:f>Sheet1!$A$2:$A$26</c:f>
              <c:strCache>
                <c:ptCount val="25"/>
                <c:pt idx="0">
                  <c:v>Jan 24</c:v>
                </c:pt>
                <c:pt idx="1">
                  <c:v>Feb 24</c:v>
                </c:pt>
                <c:pt idx="2">
                  <c:v>Mar 24</c:v>
                </c:pt>
                <c:pt idx="3">
                  <c:v>Apr 24</c:v>
                </c:pt>
                <c:pt idx="4">
                  <c:v>May 24</c:v>
                </c:pt>
                <c:pt idx="5">
                  <c:v>Jun 24</c:v>
                </c:pt>
                <c:pt idx="6">
                  <c:v>Jul 24</c:v>
                </c:pt>
                <c:pt idx="7">
                  <c:v>Aug 24</c:v>
                </c:pt>
                <c:pt idx="8">
                  <c:v>Sep 24</c:v>
                </c:pt>
                <c:pt idx="9">
                  <c:v>Oct 24</c:v>
                </c:pt>
                <c:pt idx="10">
                  <c:v>Nov 24</c:v>
                </c:pt>
                <c:pt idx="11">
                  <c:v>Dec 24</c:v>
                </c:pt>
                <c:pt idx="12">
                  <c:v>Jan 25</c:v>
                </c:pt>
                <c:pt idx="13">
                  <c:v>Feb 25</c:v>
                </c:pt>
                <c:pt idx="14">
                  <c:v>Mar 25</c:v>
                </c:pt>
                <c:pt idx="15">
                  <c:v>Apr 25</c:v>
                </c:pt>
                <c:pt idx="16">
                  <c:v>May 25</c:v>
                </c:pt>
                <c:pt idx="17">
                  <c:v>Jun 25</c:v>
                </c:pt>
                <c:pt idx="18">
                  <c:v>Jul 25</c:v>
                </c:pt>
                <c:pt idx="19">
                  <c:v>Aug 25</c:v>
                </c:pt>
                <c:pt idx="20">
                  <c:v>Sep 25</c:v>
                </c:pt>
                <c:pt idx="21">
                  <c:v>Oct 25</c:v>
                </c:pt>
                <c:pt idx="22">
                  <c:v>Nov 25</c:v>
                </c:pt>
                <c:pt idx="23">
                  <c:v>Dec 25</c:v>
                </c:pt>
                <c:pt idx="24">
                  <c:v>Jan 26</c:v>
                </c:pt>
              </c:strCache>
            </c:strRef>
          </c:cat>
          <c:val>
            <c:numRef>
              <c:f>Sheet1!$C$2:$C$26</c:f>
              <c:numCache>
                <c:formatCode>General</c:formatCode>
                <c:ptCount val="25"/>
                <c:pt idx="12">
                  <c:v>91.428</c:v>
                </c:pt>
                <c:pt idx="13">
                  <c:v>87.242</c:v>
                </c:pt>
                <c:pt idx="14">
                  <c:v>87.076</c:v>
                </c:pt>
                <c:pt idx="15">
                  <c:v>86.406</c:v>
                </c:pt>
                <c:pt idx="16">
                  <c:v>87.358</c:v>
                </c:pt>
                <c:pt idx="17">
                  <c:v>89.285</c:v>
                </c:pt>
                <c:pt idx="18">
                  <c:v>93.062</c:v>
                </c:pt>
                <c:pt idx="19">
                  <c:v>95.899</c:v>
                </c:pt>
                <c:pt idx="20">
                  <c:v>93.876</c:v>
                </c:pt>
                <c:pt idx="21">
                  <c:v>92.172</c:v>
                </c:pt>
                <c:pt idx="22">
                  <c:v>93.013</c:v>
                </c:pt>
                <c:pt idx="23">
                  <c:v>92.765</c:v>
                </c:pt>
                <c:pt idx="24">
                  <c:v>98.788</c:v>
                </c:pt>
              </c:numCache>
            </c:numRef>
          </c:val>
          <c:smooth val="0"/>
        </c:ser>
        <c:ser>
          <c:idx val="2"/>
          <c:order val="2"/>
          <c:tx>
            <c:strRef>
              <c:f>Sheet1!$D$1</c:f>
              <c:strCache>
                <c:ptCount val="1"/>
                <c:pt idx="0">
                  <c:v>80% range, Jan 2026</c:v>
                </c:pt>
              </c:strCache>
            </c:strRef>
          </c:tx>
          <c:spPr>
            <a:ln>
              <a:noFill/>
            </a:ln>
          </c:spPr>
          <c:marker>
            <c:symbol val="dash"/>
            <c:size val="14"/>
            <c:spPr>
              <a:solidFill>
                <a:srgbClr val="5F6B66"/>
              </a:solidFill>
              <a:ln>
                <a:solidFill>
                  <a:srgbClr val="5F6B66"/>
                </a:solidFill>
              </a:ln>
            </c:spPr>
          </c:marker>
          <c:cat>
            <c:strRef>
              <c:f>Sheet1!$A$2:$A$26</c:f>
              <c:strCache>
                <c:ptCount val="25"/>
                <c:pt idx="0">
                  <c:v>Jan 24</c:v>
                </c:pt>
                <c:pt idx="1">
                  <c:v>Feb 24</c:v>
                </c:pt>
                <c:pt idx="2">
                  <c:v>Mar 24</c:v>
                </c:pt>
                <c:pt idx="3">
                  <c:v>Apr 24</c:v>
                </c:pt>
                <c:pt idx="4">
                  <c:v>May 24</c:v>
                </c:pt>
                <c:pt idx="5">
                  <c:v>Jun 24</c:v>
                </c:pt>
                <c:pt idx="6">
                  <c:v>Jul 24</c:v>
                </c:pt>
                <c:pt idx="7">
                  <c:v>Aug 24</c:v>
                </c:pt>
                <c:pt idx="8">
                  <c:v>Sep 24</c:v>
                </c:pt>
                <c:pt idx="9">
                  <c:v>Oct 24</c:v>
                </c:pt>
                <c:pt idx="10">
                  <c:v>Nov 24</c:v>
                </c:pt>
                <c:pt idx="11">
                  <c:v>Dec 24</c:v>
                </c:pt>
                <c:pt idx="12">
                  <c:v>Jan 25</c:v>
                </c:pt>
                <c:pt idx="13">
                  <c:v>Feb 25</c:v>
                </c:pt>
                <c:pt idx="14">
                  <c:v>Mar 25</c:v>
                </c:pt>
                <c:pt idx="15">
                  <c:v>Apr 25</c:v>
                </c:pt>
                <c:pt idx="16">
                  <c:v>May 25</c:v>
                </c:pt>
                <c:pt idx="17">
                  <c:v>Jun 25</c:v>
                </c:pt>
                <c:pt idx="18">
                  <c:v>Jul 25</c:v>
                </c:pt>
                <c:pt idx="19">
                  <c:v>Aug 25</c:v>
                </c:pt>
                <c:pt idx="20">
                  <c:v>Sep 25</c:v>
                </c:pt>
                <c:pt idx="21">
                  <c:v>Oct 25</c:v>
                </c:pt>
                <c:pt idx="22">
                  <c:v>Nov 25</c:v>
                </c:pt>
                <c:pt idx="23">
                  <c:v>Dec 25</c:v>
                </c:pt>
                <c:pt idx="24">
                  <c:v>Jan 26</c:v>
                </c:pt>
              </c:strCache>
            </c:strRef>
          </c:cat>
          <c:val>
            <c:numRef>
              <c:f>Sheet1!$D$2:$D$26</c:f>
              <c:numCache>
                <c:formatCode>General</c:formatCode>
                <c:ptCount val="25"/>
                <c:pt idx="24">
                  <c:v>82.007</c:v>
                </c:pt>
              </c:numCache>
            </c:numRef>
          </c:val>
          <c:smooth val="0"/>
        </c:ser>
        <c:ser>
          <c:idx val="3"/>
          <c:order val="3"/>
          <c:tx>
            <c:strRef>
              <c:f>Sheet1!$E$1</c:f>
              <c:strCache>
                <c:ptCount val="1"/>
                <c:pt idx="0">
                  <c:v>80% range high</c:v>
                </c:pt>
              </c:strCache>
            </c:strRef>
          </c:tx>
          <c:spPr>
            <a:ln>
              <a:noFill/>
            </a:ln>
          </c:spPr>
          <c:marker>
            <c:symbol val="dash"/>
            <c:size val="14"/>
            <c:spPr>
              <a:solidFill>
                <a:srgbClr val="5F6B66"/>
              </a:solidFill>
              <a:ln>
                <a:solidFill>
                  <a:srgbClr val="5F6B66"/>
                </a:solidFill>
              </a:ln>
            </c:spPr>
          </c:marker>
          <c:cat>
            <c:strRef>
              <c:f>Sheet1!$A$2:$A$26</c:f>
              <c:strCache>
                <c:ptCount val="25"/>
                <c:pt idx="0">
                  <c:v>Jan 24</c:v>
                </c:pt>
                <c:pt idx="1">
                  <c:v>Feb 24</c:v>
                </c:pt>
                <c:pt idx="2">
                  <c:v>Mar 24</c:v>
                </c:pt>
                <c:pt idx="3">
                  <c:v>Apr 24</c:v>
                </c:pt>
                <c:pt idx="4">
                  <c:v>May 24</c:v>
                </c:pt>
                <c:pt idx="5">
                  <c:v>Jun 24</c:v>
                </c:pt>
                <c:pt idx="6">
                  <c:v>Jul 24</c:v>
                </c:pt>
                <c:pt idx="7">
                  <c:v>Aug 24</c:v>
                </c:pt>
                <c:pt idx="8">
                  <c:v>Sep 24</c:v>
                </c:pt>
                <c:pt idx="9">
                  <c:v>Oct 24</c:v>
                </c:pt>
                <c:pt idx="10">
                  <c:v>Nov 24</c:v>
                </c:pt>
                <c:pt idx="11">
                  <c:v>Dec 24</c:v>
                </c:pt>
                <c:pt idx="12">
                  <c:v>Jan 25</c:v>
                </c:pt>
                <c:pt idx="13">
                  <c:v>Feb 25</c:v>
                </c:pt>
                <c:pt idx="14">
                  <c:v>Mar 25</c:v>
                </c:pt>
                <c:pt idx="15">
                  <c:v>Apr 25</c:v>
                </c:pt>
                <c:pt idx="16">
                  <c:v>May 25</c:v>
                </c:pt>
                <c:pt idx="17">
                  <c:v>Jun 25</c:v>
                </c:pt>
                <c:pt idx="18">
                  <c:v>Jul 25</c:v>
                </c:pt>
                <c:pt idx="19">
                  <c:v>Aug 25</c:v>
                </c:pt>
                <c:pt idx="20">
                  <c:v>Sep 25</c:v>
                </c:pt>
                <c:pt idx="21">
                  <c:v>Oct 25</c:v>
                </c:pt>
                <c:pt idx="22">
                  <c:v>Nov 25</c:v>
                </c:pt>
                <c:pt idx="23">
                  <c:v>Dec 25</c:v>
                </c:pt>
                <c:pt idx="24">
                  <c:v>Jan 26</c:v>
                </c:pt>
              </c:strCache>
            </c:strRef>
          </c:cat>
          <c:val>
            <c:numRef>
              <c:f>Sheet1!$E$2:$E$26</c:f>
              <c:numCache>
                <c:formatCode>General</c:formatCode>
                <c:ptCount val="25"/>
                <c:pt idx="24">
                  <c:v>120.796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9DFDB"/>
            </a:solidFill>
          </a:ln>
        </c:spPr>
        <c:txPr>
          <a:bodyPr/>
          <a:lstStyle/>
          <a:p>
            <a:pPr>
              <a:defRPr sz="1100"/>
            </a:pPr>
          </a:p>
        </c:txPr>
        <c:crossAx val="2140495176"/>
        <c:crosses val="autoZero"/>
        <c:auto val="1"/>
        <c:lblAlgn val="ctr"/>
        <c:lblOffset val="100"/>
        <c:noMultiLvlLbl val="0"/>
      </c:catAx>
      <c:valAx>
        <c:axId val="2140495176"/>
        <c:scaling/>
        <c:delete val="0"/>
        <c:axPos val="l"/>
        <c:majorGridlines>
          <c:spPr>
            <a:ln>
              <a:solidFill>
                <a:srgbClr val="D9DFDB"/>
              </a:solidFill>
            </a:ln>
          </c:spPr>
        </c:majorGridlines>
        <c:numFmt formatCode="#,##0&quot;K&quot;" sourceLinked="0"/>
        <c:majorTickMark val="out"/>
        <c:minorTickMark val="none"/>
        <c:tickLblPos val="nextTo"/>
        <c:spPr>
          <a:ln>
            <a:noFill/>
          </a:ln>
        </c:spPr>
        <c:txPr>
          <a:bodyPr/>
          <a:lstStyle/>
          <a:p>
            <a:pPr>
              <a:defRPr sz="1100"/>
            </a:pPr>
          </a:p>
        </c:txPr>
        <c:crossAx val="2118791784"/>
        <c:crosses val="autoZero"/>
      </c:valAx>
    </c:plotArea>
    <c:legend>
      <c:legendPos val="t"/>
      <c:legendEntry>
        <c:idx val="3"/>
        <c:delete val="1"/>
      </c:legendEntry>
      <c:layout/>
      <c:overlay val="0"/>
      <c:txPr>
        <a:bodyPr/>
        <a:lstStyle/>
        <a:p>
          <a:pPr>
            <a:defRPr sz="1100"/>
          </a:pPr>
        </a:p>
      </c:txPr>
    </c:legend>
    <c:plotVisOnly val="1"/>
    <c:dispBlanksAs val="gap"/>
    <c:showDLblsOverMax val="0"/>
  </c:chart>
  <c:txPr>
    <a:bodyPr/>
    <a:lstStyle/>
    <a:p>
      <a:pPr>
        <a:defRPr sz="1100">
          <a:solidFill>
            <a:srgbClr val="5F6B66"/>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Train AUC</c:v>
                </c:pt>
              </c:strCache>
            </c:strRef>
          </c:tx>
          <c:spPr>
            <a:solidFill>
              <a:srgbClr val="D9DFDB"/>
            </a:solidFill>
          </c:spPr>
          <c:cat>
            <c:strRef>
              <c:f>Sheet1!$A$2:$A$4</c:f>
              <c:strCache>
                <c:ptCount val="3"/>
                <c:pt idx="0">
                  <c:v>Recency rule (selected)</c:v>
                </c:pt>
                <c:pt idx="1">
                  <c:v>Logistic regression</c:v>
                </c:pt>
                <c:pt idx="2">
                  <c:v>Random Forest</c:v>
                </c:pt>
              </c:strCache>
            </c:strRef>
          </c:cat>
          <c:val>
            <c:numRef>
              <c:f>Sheet1!$B$2:$B$4</c:f>
              <c:numCache>
                <c:formatCode>General</c:formatCode>
                <c:ptCount val="3"/>
                <c:pt idx="0">
                  <c:v>0.75</c:v>
                </c:pt>
                <c:pt idx="1">
                  <c:v>0.81</c:v>
                </c:pt>
                <c:pt idx="2">
                  <c:v>0.96</c:v>
                </c:pt>
              </c:numCache>
            </c:numRef>
          </c:val>
        </c:ser>
        <c:ser>
          <c:idx val="1"/>
          <c:order val="1"/>
          <c:tx>
            <c:strRef>
              <c:f>Sheet1!$C$1</c:f>
              <c:strCache>
                <c:ptCount val="1"/>
                <c:pt idx="0">
                  <c:v>Test AUC (later period)</c:v>
                </c:pt>
              </c:strCache>
            </c:strRef>
          </c:tx>
          <c:spPr>
            <a:solidFill>
              <a:srgbClr val="12372A"/>
            </a:solidFill>
          </c:spPr>
          <c:cat>
            <c:strRef>
              <c:f>Sheet1!$A$2:$A$4</c:f>
              <c:strCache>
                <c:ptCount val="3"/>
                <c:pt idx="0">
                  <c:v>Recency rule (selected)</c:v>
                </c:pt>
                <c:pt idx="1">
                  <c:v>Logistic regression</c:v>
                </c:pt>
                <c:pt idx="2">
                  <c:v>Random Forest</c:v>
                </c:pt>
              </c:strCache>
            </c:strRef>
          </c:cat>
          <c:val>
            <c:numRef>
              <c:f>Sheet1!$C$2:$C$4</c:f>
              <c:numCache>
                <c:formatCode>General</c:formatCode>
                <c:ptCount val="3"/>
                <c:pt idx="0">
                  <c:v>0.8</c:v>
                </c:pt>
                <c:pt idx="1">
                  <c:v>0.83</c:v>
                </c:pt>
                <c:pt idx="2">
                  <c:v>0.82</c:v>
                </c:pt>
              </c:numCache>
            </c:numRef>
          </c:val>
        </c:ser>
        <c:dLbls>
          <c:numFmt formatCode="0.00" sourceLinked="0"/>
          <c:txPr>
            <a:bodyPr/>
            <a:lstStyle/>
            <a:p>
              <a:pPr>
                <a:defRPr sz="1200">
                  <a:solidFill>
                    <a:srgbClr val="1B1B1B"/>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D9DFDB"/>
            </a:solidFill>
          </a:ln>
        </c:spPr>
        <c:txPr>
          <a:bodyPr/>
          <a:lstStyle/>
          <a:p>
            <a:pPr>
              <a:defRPr sz="1200"/>
            </a:pPr>
          </a:p>
        </c:txPr>
        <c:crossAx val="-2113994440"/>
        <c:crosses val="autoZero"/>
        <c:auto val="1"/>
        <c:lblAlgn val="ctr"/>
        <c:lblOffset val="100"/>
        <c:noMultiLvlLbl val="0"/>
      </c:catAx>
      <c:valAx>
        <c:axId val="-2113994440"/>
        <c:scaling>
          <c:max val="1.0"/>
          <c:min val="0.5"/>
        </c:scaling>
        <c:delete/>
        <c:axPos val="l"/>
        <c:majorTickMark val="out"/>
        <c:minorTickMark val="none"/>
        <c:tickLblPos val="nextTo"/>
        <c:spPr>
          <a:ln>
            <a:noFill/>
          </a:ln>
        </c:spPr>
        <c:txPr>
          <a:bodyPr/>
          <a:lstStyle/>
          <a:p>
            <a:pPr>
              <a:defRPr sz="1200"/>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5F6B66"/>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capstone answers four management questions for Duka Bora, a six-store Kenyan supermarket chain, using two years of sales data. The data is synthetic by design, which I will explain, and the only real external data is the Kenyan public-holiday calendar. I'll take about 15 minutes, then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records every sale but makes stock, promotion and retention decisions on intuition. They asked four questions, and every milestone of the project feeds at least one of them. Success meant answering each with evidence, checked in more than one tool.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four answers up front. Revenue is 2.18 million shillings at a 24.7% margin, but growth was price-led: units fell. 249 established customers have gone quiet. And January should be planned at 75 to 85 thousand, below the model's underlying level, because January is reliably weak. The rest of the talk shows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 follows CRISP-DM. Synthetic data is generated from documented, seeded rules, then cleaned, explored, loaded into PostgreSQL, tested statistically, modelled and put into Power BI. All logic lives in a src package, the notebooks are executed, and 28 automated tests guard the data, the statistics functions and model leakage.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generation I injected 126 realistic issues and logged each one. Cleaning was then audited against that log and against the true data: all 126 were found. The rule was evidence before assumption. The biggest catch: four quantity-999 entry errors would have added 1.44 million shillings of phantom revenue, almost doubling the chain's real revenue. The 28 values with no evidence were labelled, not guessed.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lines are 2024 and 2025 by month. December is the peak and January the trough in both years. Revenue grew 8.8% and profit 10.7%, but units fell 4.7% and orders grew under 4%. The 4% price review in January 2025 and a richer basket mix explain the gap. If prices stop rising, revenue stalls, so units belong on the management dashboard next to revenue.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share against profit share by category. Clothing is the profit engine at a 42% margin, and the top five profit products are all clothing, led by school uniforms. Groceries are the opposite: a quarter of revenue but only 12% of profit, so they build traffic, not profit. Some grocery and electronics promotions discounted more than the margin and kept only 1 to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20% of customers produce 61% of revenue, yet only 23% of customers ever come back. RFM segmentation, built identically in SQL, Python and Power BI, finds 68 Champions producing 14.7% of revenue. The worrying groups are 'Cannot Lose Them' and 'At Risk': 55 formerly frequent customers who have gone quiet.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Nairobi CBD and Westlands generate 44% of revenue. Growth figures need care: single electronics sales swing small stores, so I also checked growth without electronics. Kisumu's 38% shrinks to 3.5%, but Thika's decline deepens to minus 19%, even though Thika earns the most per square metre. Mombasa has the smallest baskets.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cleaned data is loaded into a third-normal-form PostgreSQL database. Receipt-level facts are stored once in the orders table, and money columns are generated by the database so they cannot disagree with quantity and price. Seven scripts answer the business questions with joins, CTEs and window functions. The data-quality script proves the database revenue matches Python on all 2,988 lines.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test was chosen after checking assumptions. The data is skewed, so the main tests are non-parametric, with effect sizes and confidence intervals. Promotions do lift units, by about half a unit per line, in all six categories, but not enough to pay for discounts above the margin. Stores differ significantly in order value, but the store explains just 0.3% of the variation: real, but not worth a store-specific strategy.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One-month-ahead forecasts, walk-forward, so each month uses only the past. Damped Holt had the lowest validation error and also ranked first on the untouched test months, with an MAE of 17,500 shillings, 16.5%. But it beats the naive baseline by only 5%, which is not conclusive on six months, and most of its test error is the December peak, because two years of data cannot support a validated seasonal model. For January 2026 it gives 98,800 with an 80% range of 82 to 121 thousand. Both previous Januaries were 65 to 70 thousand, so I recommend planning for 75 to 85 thousand.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churn, established customers are scored at a snapshot and labelled by whether they bought in the next six months. The 180-day threshold comes from the data: 90% of repeat-purchase gaps are 173 days or shorter. In cross-validation all three models tied, so the one-standard-error rule chose the simplest: silent for more than 180 days. On a later, out-of-time test it reached AUC 0.80 with 93% precision. Logistic regression ranked slightly better, so it becomes the priority score. The Random Forest overfit. Today 249 customers are flagged.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runs on a star schema exported from the project, with DAX measures that have written definitions. The five pages follow the management questions: overview, products, customers, stores and forecasting. Synced slicers and cross-filtering let a manager click a product or store and see everything update. Every headline number matches the Python and SQL results.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actions, each tied to evidence and a KPI. If management could do only one, it should be the win-back campaign: it targets 542 thousand shillings of past spend with a list that proved 93% precise, and the control group means its value can be measured rather than assumed.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is that the data is synthetic: the methods transfer to real data, the figures do not. Two years is too short for a validated seasonal model, and promotion and loyalty effects are associations. The next steps follow directly: a seasonal model with more history, randomized trials for causal effects, basket analysis for the Mombasa bundles, and an automated refresh pipeline.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clothing earns the profit, prices drive the growth, and 249 valuable customers are waiting to be won back. Everything is reproducible from the repository. Thank you, I'm happy to take questions. (Prepared answers: milestone_8_documentation/defence_qa.md.)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72A"/>
        </a:solidFill>
        <a:effectLst/>
      </p:bgPr>
    </p:bg>
    <p:spTree>
      <p:nvGrpSpPr>
        <p:cNvPr id="1" name=""/>
        <p:cNvGrpSpPr/>
        <p:nvPr/>
      </p:nvGrpSpPr>
      <p:grpSpPr/>
      <p:sp>
        <p:nvSpPr>
          <p:cNvPr id="2" name="TextBox 1"/>
          <p:cNvSpPr txBox="1"/>
          <p:nvPr/>
        </p:nvSpPr>
        <p:spPr>
          <a:xfrm>
            <a:off x="731520" y="1463040"/>
            <a:ext cx="10515600" cy="457200"/>
          </a:xfrm>
          <a:prstGeom prst="rect">
            <a:avLst/>
          </a:prstGeom>
          <a:noFill/>
        </p:spPr>
        <p:txBody>
          <a:bodyPr wrap="square" anchor="t" lIns="45720" rIns="45720">
            <a:spAutoFit/>
          </a:bodyPr>
          <a:lstStyle/>
          <a:p>
            <a:pPr algn="l">
              <a:spcAft>
                <a:spcPts val="600"/>
              </a:spcAft>
            </a:pPr>
            <a:r>
              <a:rPr sz="1600" b="1" i="0">
                <a:solidFill>
                  <a:srgbClr val="9FD3B8"/>
                </a:solidFill>
                <a:latin typeface="Calibri"/>
              </a:rPr>
              <a:t>LUXDEVHQ DATA SCIENCE AND ANALYTICS CAPSTONE</a:t>
            </a:r>
          </a:p>
        </p:txBody>
      </p:sp>
      <p:sp>
        <p:nvSpPr>
          <p:cNvPr id="3" name="TextBox 2"/>
          <p:cNvSpPr txBox="1"/>
          <p:nvPr/>
        </p:nvSpPr>
        <p:spPr>
          <a:xfrm>
            <a:off x="731520" y="2011680"/>
            <a:ext cx="10515600" cy="1737360"/>
          </a:xfrm>
          <a:prstGeom prst="rect">
            <a:avLst/>
          </a:prstGeom>
          <a:noFill/>
        </p:spPr>
        <p:txBody>
          <a:bodyPr wrap="square" anchor="t" lIns="45720" rIns="45720">
            <a:spAutoFit/>
          </a:bodyPr>
          <a:lstStyle/>
          <a:p>
            <a:pPr algn="l">
              <a:spcAft>
                <a:spcPts val="600"/>
              </a:spcAft>
            </a:pPr>
            <a:r>
              <a:rPr sz="4400" b="1" i="0">
                <a:solidFill>
                  <a:srgbClr val="FFFFFF"/>
                </a:solidFill>
                <a:latin typeface="Cambria"/>
              </a:rPr>
              <a:t>Customer and Sales Intelligence for a Kenyan Retailer</a:t>
            </a:r>
          </a:p>
        </p:txBody>
      </p:sp>
      <p:sp>
        <p:nvSpPr>
          <p:cNvPr id="4" name="TextBox 3"/>
          <p:cNvSpPr txBox="1"/>
          <p:nvPr/>
        </p:nvSpPr>
        <p:spPr>
          <a:xfrm>
            <a:off x="731520" y="3840480"/>
            <a:ext cx="10515600" cy="548640"/>
          </a:xfrm>
          <a:prstGeom prst="rect">
            <a:avLst/>
          </a:prstGeom>
          <a:noFill/>
        </p:spPr>
        <p:txBody>
          <a:bodyPr wrap="square" anchor="t" lIns="45720" rIns="45720">
            <a:spAutoFit/>
          </a:bodyPr>
          <a:lstStyle/>
          <a:p>
            <a:pPr algn="l">
              <a:spcAft>
                <a:spcPts val="600"/>
              </a:spcAft>
            </a:pPr>
            <a:r>
              <a:rPr sz="2000" b="0" i="0">
                <a:solidFill>
                  <a:srgbClr val="DCEBE3"/>
                </a:solidFill>
                <a:latin typeface="Calibri"/>
              </a:rPr>
              <a:t>Evidence for stock, promotion and retention decisions at Duka Bora Supermarkets</a:t>
            </a:r>
          </a:p>
        </p:txBody>
      </p:sp>
      <p:sp>
        <p:nvSpPr>
          <p:cNvPr id="5" name="TextBox 4"/>
          <p:cNvSpPr txBox="1"/>
          <p:nvPr/>
        </p:nvSpPr>
        <p:spPr>
          <a:xfrm>
            <a:off x="731520" y="5120640"/>
            <a:ext cx="10515600" cy="822960"/>
          </a:xfrm>
          <a:prstGeom prst="rect">
            <a:avLst/>
          </a:prstGeom>
          <a:noFill/>
        </p:spPr>
        <p:txBody>
          <a:bodyPr wrap="square" anchor="t" lIns="45720" rIns="45720">
            <a:spAutoFit/>
          </a:bodyPr>
          <a:lstStyle/>
          <a:p>
            <a:pPr algn="l">
              <a:spcAft>
                <a:spcPts val="200"/>
              </a:spcAft>
            </a:pPr>
            <a:r>
              <a:rPr sz="1600" b="0" i="0">
                <a:solidFill>
                  <a:srgbClr val="FFFFFF"/>
                </a:solidFill>
                <a:latin typeface="Calibri"/>
              </a:rPr>
              <a:t>Jonathan Kiplagat</a:t>
            </a:r>
          </a:p>
          <a:p>
            <a:pPr algn="l">
              <a:spcAft>
                <a:spcPts val="200"/>
              </a:spcAft>
            </a:pPr>
            <a:r>
              <a:rPr sz="1600" b="0" i="0">
                <a:solidFill>
                  <a:srgbClr val="FFFFFF"/>
                </a:solidFill>
                <a:latin typeface="Calibri"/>
              </a:rPr>
              <a:t>Final defence  |  Data: 2024–2025, 6 stores, KES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Duka Bora records every sale but decides on intuition</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2</a:t>
            </a:r>
          </a:p>
        </p:txBody>
      </p:sp>
      <p:sp>
        <p:nvSpPr>
          <p:cNvPr id="4" name="Rounded Rectangle 3"/>
          <p:cNvSpPr/>
          <p:nvPr/>
        </p:nvSpPr>
        <p:spPr>
          <a:xfrm>
            <a:off x="548640" y="1554480"/>
            <a:ext cx="5440680" cy="201168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 y="1920240"/>
            <a:ext cx="640080" cy="6400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1737360" y="1828800"/>
            <a:ext cx="4023360" cy="914400"/>
          </a:xfrm>
          <a:prstGeom prst="rect">
            <a:avLst/>
          </a:prstGeom>
          <a:noFill/>
        </p:spPr>
        <p:txBody>
          <a:bodyPr wrap="square" anchor="ctr" lIns="45720" rIns="45720">
            <a:spAutoFit/>
          </a:bodyPr>
          <a:lstStyle/>
          <a:p>
            <a:pPr algn="l">
              <a:spcAft>
                <a:spcPts val="600"/>
              </a:spcAft>
            </a:pPr>
            <a:r>
              <a:rPr sz="2200" b="1" i="0">
                <a:solidFill>
                  <a:srgbClr val="12372A"/>
                </a:solidFill>
                <a:latin typeface="Cambria"/>
              </a:rPr>
              <a:t>What drives revenue and profit?</a:t>
            </a:r>
          </a:p>
        </p:txBody>
      </p:sp>
      <p:sp>
        <p:nvSpPr>
          <p:cNvPr id="7" name="TextBox 6"/>
          <p:cNvSpPr txBox="1"/>
          <p:nvPr/>
        </p:nvSpPr>
        <p:spPr>
          <a:xfrm>
            <a:off x="1737360" y="2788920"/>
            <a:ext cx="4023360" cy="640080"/>
          </a:xfrm>
          <a:prstGeom prst="rect">
            <a:avLst/>
          </a:prstGeom>
          <a:noFill/>
        </p:spPr>
        <p:txBody>
          <a:bodyPr wrap="square" anchor="t" lIns="45720" rIns="45720">
            <a:spAutoFit/>
          </a:bodyPr>
          <a:lstStyle/>
          <a:p>
            <a:pPr algn="l">
              <a:spcAft>
                <a:spcPts val="600"/>
              </a:spcAft>
            </a:pPr>
            <a:r>
              <a:rPr sz="1600" b="0" i="0">
                <a:solidFill>
                  <a:srgbClr val="1B1B1B"/>
                </a:solidFill>
                <a:latin typeface="Calibri"/>
              </a:rPr>
              <a:t>Products, categories, prices and promotions</a:t>
            </a:r>
          </a:p>
        </p:txBody>
      </p:sp>
      <p:sp>
        <p:nvSpPr>
          <p:cNvPr id="8" name="Rounded Rectangle 7"/>
          <p:cNvSpPr/>
          <p:nvPr/>
        </p:nvSpPr>
        <p:spPr>
          <a:xfrm>
            <a:off x="6172200" y="1554480"/>
            <a:ext cx="5440680" cy="201168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92240" y="1920240"/>
            <a:ext cx="640080" cy="6400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0" name="TextBox 9"/>
          <p:cNvSpPr txBox="1"/>
          <p:nvPr/>
        </p:nvSpPr>
        <p:spPr>
          <a:xfrm>
            <a:off x="7360920" y="1828800"/>
            <a:ext cx="4023360" cy="914400"/>
          </a:xfrm>
          <a:prstGeom prst="rect">
            <a:avLst/>
          </a:prstGeom>
          <a:noFill/>
        </p:spPr>
        <p:txBody>
          <a:bodyPr wrap="square" anchor="ctr" lIns="45720" rIns="45720">
            <a:spAutoFit/>
          </a:bodyPr>
          <a:lstStyle/>
          <a:p>
            <a:pPr algn="l">
              <a:spcAft>
                <a:spcPts val="600"/>
              </a:spcAft>
            </a:pPr>
            <a:r>
              <a:rPr sz="2200" b="1" i="0">
                <a:solidFill>
                  <a:srgbClr val="12372A"/>
                </a:solidFill>
                <a:latin typeface="Cambria"/>
              </a:rPr>
              <a:t>Who buys, where and when?</a:t>
            </a:r>
          </a:p>
        </p:txBody>
      </p:sp>
      <p:sp>
        <p:nvSpPr>
          <p:cNvPr id="11" name="TextBox 10"/>
          <p:cNvSpPr txBox="1"/>
          <p:nvPr/>
        </p:nvSpPr>
        <p:spPr>
          <a:xfrm>
            <a:off x="7360920" y="2788920"/>
            <a:ext cx="4023360" cy="640080"/>
          </a:xfrm>
          <a:prstGeom prst="rect">
            <a:avLst/>
          </a:prstGeom>
          <a:noFill/>
        </p:spPr>
        <p:txBody>
          <a:bodyPr wrap="square" anchor="t" lIns="45720" rIns="45720">
            <a:spAutoFit/>
          </a:bodyPr>
          <a:lstStyle/>
          <a:p>
            <a:pPr algn="l">
              <a:spcAft>
                <a:spcPts val="600"/>
              </a:spcAft>
            </a:pPr>
            <a:r>
              <a:rPr sz="1600" b="0" i="0">
                <a:solidFill>
                  <a:srgbClr val="1B1B1B"/>
                </a:solidFill>
                <a:latin typeface="Calibri"/>
              </a:rPr>
              <a:t>Customers, stores, seasons and the daily rhythm</a:t>
            </a:r>
          </a:p>
        </p:txBody>
      </p:sp>
      <p:sp>
        <p:nvSpPr>
          <p:cNvPr id="12" name="Rounded Rectangle 11"/>
          <p:cNvSpPr/>
          <p:nvPr/>
        </p:nvSpPr>
        <p:spPr>
          <a:xfrm>
            <a:off x="548640" y="3794760"/>
            <a:ext cx="5440680" cy="201168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680" y="4160520"/>
            <a:ext cx="640080" cy="6400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4" name="TextBox 13"/>
          <p:cNvSpPr txBox="1"/>
          <p:nvPr/>
        </p:nvSpPr>
        <p:spPr>
          <a:xfrm>
            <a:off x="1737360" y="4069080"/>
            <a:ext cx="4023360" cy="914400"/>
          </a:xfrm>
          <a:prstGeom prst="rect">
            <a:avLst/>
          </a:prstGeom>
          <a:noFill/>
        </p:spPr>
        <p:txBody>
          <a:bodyPr wrap="square" anchor="ctr" lIns="45720" rIns="45720">
            <a:spAutoFit/>
          </a:bodyPr>
          <a:lstStyle/>
          <a:p>
            <a:pPr algn="l">
              <a:spcAft>
                <a:spcPts val="600"/>
              </a:spcAft>
            </a:pPr>
            <a:r>
              <a:rPr sz="2200" b="1" i="0">
                <a:solidFill>
                  <a:srgbClr val="12372A"/>
                </a:solidFill>
                <a:latin typeface="Cambria"/>
              </a:rPr>
              <a:t>Which customers are drifting away?</a:t>
            </a:r>
          </a:p>
        </p:txBody>
      </p:sp>
      <p:sp>
        <p:nvSpPr>
          <p:cNvPr id="15" name="TextBox 14"/>
          <p:cNvSpPr txBox="1"/>
          <p:nvPr/>
        </p:nvSpPr>
        <p:spPr>
          <a:xfrm>
            <a:off x="1737360" y="5029200"/>
            <a:ext cx="4023360" cy="640080"/>
          </a:xfrm>
          <a:prstGeom prst="rect">
            <a:avLst/>
          </a:prstGeom>
          <a:noFill/>
        </p:spPr>
        <p:txBody>
          <a:bodyPr wrap="square" anchor="t" lIns="45720" rIns="45720">
            <a:spAutoFit/>
          </a:bodyPr>
          <a:lstStyle/>
          <a:p>
            <a:pPr algn="l">
              <a:spcAft>
                <a:spcPts val="600"/>
              </a:spcAft>
            </a:pPr>
            <a:r>
              <a:rPr sz="1600" b="0" i="0">
                <a:solidFill>
                  <a:srgbClr val="1B1B1B"/>
                </a:solidFill>
                <a:latin typeface="Calibri"/>
              </a:rPr>
              <a:t>Valuable customers who have gone quiet</a:t>
            </a:r>
          </a:p>
        </p:txBody>
      </p:sp>
      <p:sp>
        <p:nvSpPr>
          <p:cNvPr id="16" name="Rounded Rectangle 15"/>
          <p:cNvSpPr/>
          <p:nvPr/>
        </p:nvSpPr>
        <p:spPr>
          <a:xfrm>
            <a:off x="6172200" y="3794760"/>
            <a:ext cx="5440680" cy="201168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92240" y="4160520"/>
            <a:ext cx="640080" cy="6400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18" name="TextBox 17"/>
          <p:cNvSpPr txBox="1"/>
          <p:nvPr/>
        </p:nvSpPr>
        <p:spPr>
          <a:xfrm>
            <a:off x="7360920" y="4069080"/>
            <a:ext cx="4023360" cy="914400"/>
          </a:xfrm>
          <a:prstGeom prst="rect">
            <a:avLst/>
          </a:prstGeom>
          <a:noFill/>
        </p:spPr>
        <p:txBody>
          <a:bodyPr wrap="square" anchor="ctr" lIns="45720" rIns="45720">
            <a:spAutoFit/>
          </a:bodyPr>
          <a:lstStyle/>
          <a:p>
            <a:pPr algn="l">
              <a:spcAft>
                <a:spcPts val="600"/>
              </a:spcAft>
            </a:pPr>
            <a:r>
              <a:rPr sz="2200" b="1" i="0">
                <a:solidFill>
                  <a:srgbClr val="12372A"/>
                </a:solidFill>
                <a:latin typeface="Cambria"/>
              </a:rPr>
              <a:t>What demand should we expect?</a:t>
            </a:r>
          </a:p>
        </p:txBody>
      </p:sp>
      <p:sp>
        <p:nvSpPr>
          <p:cNvPr id="19" name="TextBox 18"/>
          <p:cNvSpPr txBox="1"/>
          <p:nvPr/>
        </p:nvSpPr>
        <p:spPr>
          <a:xfrm>
            <a:off x="7360920" y="5029200"/>
            <a:ext cx="4023360" cy="640080"/>
          </a:xfrm>
          <a:prstGeom prst="rect">
            <a:avLst/>
          </a:prstGeom>
          <a:noFill/>
        </p:spPr>
        <p:txBody>
          <a:bodyPr wrap="square" anchor="t" lIns="45720" rIns="45720">
            <a:spAutoFit/>
          </a:bodyPr>
          <a:lstStyle/>
          <a:p>
            <a:pPr algn="l">
              <a:spcAft>
                <a:spcPts val="600"/>
              </a:spcAft>
            </a:pPr>
            <a:r>
              <a:rPr sz="1600" b="0" i="0">
                <a:solidFill>
                  <a:srgbClr val="1B1B1B"/>
                </a:solidFill>
                <a:latin typeface="Calibri"/>
              </a:rPr>
              <a:t>Next month's revenue, with a realistic range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The answers at a glance</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3</a:t>
            </a:r>
          </a:p>
        </p:txBody>
      </p:sp>
      <p:sp>
        <p:nvSpPr>
          <p:cNvPr id="4" name="Rounded Rectangle 3"/>
          <p:cNvSpPr/>
          <p:nvPr/>
        </p:nvSpPr>
        <p:spPr>
          <a:xfrm>
            <a:off x="548640" y="1645920"/>
            <a:ext cx="2651760" cy="182880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2286000" cy="621792"/>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KES 2.18M</a:t>
            </a:r>
          </a:p>
        </p:txBody>
      </p:sp>
      <p:sp>
        <p:nvSpPr>
          <p:cNvPr id="6" name="TextBox 5"/>
          <p:cNvSpPr txBox="1"/>
          <p:nvPr/>
        </p:nvSpPr>
        <p:spPr>
          <a:xfrm>
            <a:off x="731520" y="2377440"/>
            <a:ext cx="2286000" cy="100584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Revenue at a 24.7% margin. Clothing earns 46% of profit</a:t>
            </a:r>
          </a:p>
        </p:txBody>
      </p:sp>
      <p:sp>
        <p:nvSpPr>
          <p:cNvPr id="7" name="Rounded Rectangle 6"/>
          <p:cNvSpPr/>
          <p:nvPr/>
        </p:nvSpPr>
        <p:spPr>
          <a:xfrm>
            <a:off x="3360420" y="1645920"/>
            <a:ext cx="2651760" cy="182880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43300" y="1737360"/>
            <a:ext cx="2286000" cy="621792"/>
          </a:xfrm>
          <a:prstGeom prst="rect">
            <a:avLst/>
          </a:prstGeom>
          <a:noFill/>
        </p:spPr>
        <p:txBody>
          <a:bodyPr wrap="square" anchor="ctr" lIns="45720" rIns="45720">
            <a:spAutoFit/>
          </a:bodyPr>
          <a:lstStyle/>
          <a:p>
            <a:pPr algn="l">
              <a:spcAft>
                <a:spcPts val="600"/>
              </a:spcAft>
            </a:pPr>
            <a:r>
              <a:rPr sz="3000" b="1" i="0">
                <a:solidFill>
                  <a:srgbClr val="EB6834"/>
                </a:solidFill>
                <a:latin typeface="Cambria"/>
              </a:rPr>
              <a:t>−4.7%</a:t>
            </a:r>
          </a:p>
        </p:txBody>
      </p:sp>
      <p:sp>
        <p:nvSpPr>
          <p:cNvPr id="9" name="TextBox 8"/>
          <p:cNvSpPr txBox="1"/>
          <p:nvPr/>
        </p:nvSpPr>
        <p:spPr>
          <a:xfrm>
            <a:off x="3543300" y="2377440"/>
            <a:ext cx="2286000" cy="100584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Units sold in 2025, while revenue grew 8.8%: growth is price-led</a:t>
            </a:r>
          </a:p>
        </p:txBody>
      </p:sp>
      <p:sp>
        <p:nvSpPr>
          <p:cNvPr id="10" name="Rounded Rectangle 9"/>
          <p:cNvSpPr/>
          <p:nvPr/>
        </p:nvSpPr>
        <p:spPr>
          <a:xfrm>
            <a:off x="6172200" y="1645920"/>
            <a:ext cx="2651760" cy="182880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737360"/>
            <a:ext cx="2286000" cy="621792"/>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249</a:t>
            </a:r>
          </a:p>
        </p:txBody>
      </p:sp>
      <p:sp>
        <p:nvSpPr>
          <p:cNvPr id="12" name="TextBox 11"/>
          <p:cNvSpPr txBox="1"/>
          <p:nvPr/>
        </p:nvSpPr>
        <p:spPr>
          <a:xfrm>
            <a:off x="6355080" y="2377440"/>
            <a:ext cx="2286000" cy="100584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Established customers silent for over 180 days (KES 542K lifetime spend)</a:t>
            </a:r>
          </a:p>
        </p:txBody>
      </p:sp>
      <p:sp>
        <p:nvSpPr>
          <p:cNvPr id="13" name="Rounded Rectangle 12"/>
          <p:cNvSpPr/>
          <p:nvPr/>
        </p:nvSpPr>
        <p:spPr>
          <a:xfrm>
            <a:off x="8983980" y="1645920"/>
            <a:ext cx="2651760" cy="182880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66860" y="1737360"/>
            <a:ext cx="2286000" cy="621792"/>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KES 75–85K</a:t>
            </a:r>
          </a:p>
        </p:txBody>
      </p:sp>
      <p:sp>
        <p:nvSpPr>
          <p:cNvPr id="15" name="TextBox 14"/>
          <p:cNvSpPr txBox="1"/>
          <p:nvPr/>
        </p:nvSpPr>
        <p:spPr>
          <a:xfrm>
            <a:off x="9166860" y="2377440"/>
            <a:ext cx="2286000" cy="100584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Planning figure for January 2026 (model level KES 99K)</a:t>
            </a:r>
          </a:p>
        </p:txBody>
      </p:sp>
      <p:sp>
        <p:nvSpPr>
          <p:cNvPr id="16" name="TextBox 15"/>
          <p:cNvSpPr txBox="1"/>
          <p:nvPr/>
        </p:nvSpPr>
        <p:spPr>
          <a:xfrm>
            <a:off x="548640" y="3931920"/>
            <a:ext cx="11064240" cy="1645920"/>
          </a:xfrm>
          <a:prstGeom prst="rect">
            <a:avLst/>
          </a:prstGeom>
          <a:noFill/>
        </p:spPr>
        <p:txBody>
          <a:bodyPr wrap="square" anchor="t" lIns="45720" rIns="45720">
            <a:spAutoFit/>
          </a:bodyPr>
          <a:lstStyle/>
          <a:p>
            <a:pPr algn="l">
              <a:spcAft>
                <a:spcPts val="600"/>
              </a:spcAft>
            </a:pPr>
            <a:r>
              <a:rPr sz="2000" b="1" i="0">
                <a:solidFill>
                  <a:srgbClr val="12372A"/>
                </a:solidFill>
                <a:latin typeface="Calibri"/>
              </a:rPr>
              <a:t>Top three actions: </a:t>
            </a:r>
            <a:r>
              <a:rPr sz="2000" b="0" i="0">
                <a:solidFill>
                  <a:srgbClr val="1B1B1B"/>
                </a:solidFill>
                <a:latin typeface="Calibri"/>
              </a:rPr>
              <a:t>protect clothing margins, cap promotion discounts below category margin, and run a measured win-back campaign for the 249 at-risk customers.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Eight milestones, one reproducible pipeline</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4</a:t>
            </a:r>
          </a:p>
        </p:txBody>
      </p:sp>
      <p:sp>
        <p:nvSpPr>
          <p:cNvPr id="4" name="Oval 3"/>
          <p:cNvSpPr/>
          <p:nvPr/>
        </p:nvSpPr>
        <p:spPr>
          <a:xfrm>
            <a:off x="877824" y="1691640"/>
            <a:ext cx="685800" cy="685800"/>
          </a:xfrm>
          <a:prstGeom prst="ellipse">
            <a:avLst/>
          </a:prstGeom>
          <a:solidFill>
            <a:srgbClr val="123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5" name="TextBox 4"/>
          <p:cNvSpPr txBox="1"/>
          <p:nvPr/>
        </p:nvSpPr>
        <p:spPr>
          <a:xfrm>
            <a:off x="548640" y="2514600"/>
            <a:ext cx="1344168" cy="411480"/>
          </a:xfrm>
          <a:prstGeom prst="rect">
            <a:avLst/>
          </a:prstGeom>
          <a:noFill/>
        </p:spPr>
        <p:txBody>
          <a:bodyPr wrap="square" anchor="t" lIns="45720" rIns="45720">
            <a:spAutoFit/>
          </a:bodyPr>
          <a:lstStyle/>
          <a:p>
            <a:pPr algn="ctr">
              <a:spcAft>
                <a:spcPts val="600"/>
              </a:spcAft>
            </a:pPr>
            <a:r>
              <a:rPr sz="1600" b="1" i="0">
                <a:solidFill>
                  <a:srgbClr val="12372A"/>
                </a:solidFill>
                <a:latin typeface="Calibri"/>
              </a:rPr>
              <a:t>Frame</a:t>
            </a:r>
          </a:p>
        </p:txBody>
      </p:sp>
      <p:sp>
        <p:nvSpPr>
          <p:cNvPr id="6" name="TextBox 5"/>
          <p:cNvSpPr txBox="1"/>
          <p:nvPr/>
        </p:nvSpPr>
        <p:spPr>
          <a:xfrm>
            <a:off x="548640" y="2880360"/>
            <a:ext cx="1344168" cy="411480"/>
          </a:xfrm>
          <a:prstGeom prst="rect">
            <a:avLst/>
          </a:prstGeom>
          <a:noFill/>
        </p:spPr>
        <p:txBody>
          <a:bodyPr wrap="square" anchor="t" lIns="45720" rIns="45720">
            <a:spAutoFit/>
          </a:bodyPr>
          <a:lstStyle/>
          <a:p>
            <a:pPr algn="ctr">
              <a:spcAft>
                <a:spcPts val="600"/>
              </a:spcAft>
            </a:pPr>
            <a:r>
              <a:rPr sz="1200" b="0" i="0">
                <a:solidFill>
                  <a:srgbClr val="5F6B66"/>
                </a:solidFill>
                <a:latin typeface="Calibri"/>
              </a:rPr>
              <a:t>M1</a:t>
            </a:r>
          </a:p>
        </p:txBody>
      </p:sp>
      <p:sp>
        <p:nvSpPr>
          <p:cNvPr id="7" name="Oval 6"/>
          <p:cNvSpPr/>
          <p:nvPr/>
        </p:nvSpPr>
        <p:spPr>
          <a:xfrm>
            <a:off x="2276856" y="1691640"/>
            <a:ext cx="685800" cy="685800"/>
          </a:xfrm>
          <a:prstGeom prst="ellipse">
            <a:avLst/>
          </a:prstGeom>
          <a:solidFill>
            <a:srgbClr val="1F5A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8" name="TextBox 7"/>
          <p:cNvSpPr txBox="1"/>
          <p:nvPr/>
        </p:nvSpPr>
        <p:spPr>
          <a:xfrm>
            <a:off x="1947672" y="2514600"/>
            <a:ext cx="1344168" cy="411480"/>
          </a:xfrm>
          <a:prstGeom prst="rect">
            <a:avLst/>
          </a:prstGeom>
          <a:noFill/>
        </p:spPr>
        <p:txBody>
          <a:bodyPr wrap="square" anchor="t" lIns="45720" rIns="45720">
            <a:spAutoFit/>
          </a:bodyPr>
          <a:lstStyle/>
          <a:p>
            <a:pPr algn="ctr">
              <a:spcAft>
                <a:spcPts val="600"/>
              </a:spcAft>
            </a:pPr>
            <a:r>
              <a:rPr sz="1600" b="1" i="0">
                <a:solidFill>
                  <a:srgbClr val="12372A"/>
                </a:solidFill>
                <a:latin typeface="Calibri"/>
              </a:rPr>
              <a:t>Generate</a:t>
            </a:r>
          </a:p>
        </p:txBody>
      </p:sp>
      <p:sp>
        <p:nvSpPr>
          <p:cNvPr id="9" name="TextBox 8"/>
          <p:cNvSpPr txBox="1"/>
          <p:nvPr/>
        </p:nvSpPr>
        <p:spPr>
          <a:xfrm>
            <a:off x="1947672" y="2880360"/>
            <a:ext cx="1344168" cy="411480"/>
          </a:xfrm>
          <a:prstGeom prst="rect">
            <a:avLst/>
          </a:prstGeom>
          <a:noFill/>
        </p:spPr>
        <p:txBody>
          <a:bodyPr wrap="square" anchor="t" lIns="45720" rIns="45720">
            <a:spAutoFit/>
          </a:bodyPr>
          <a:lstStyle/>
          <a:p>
            <a:pPr algn="ctr">
              <a:spcAft>
                <a:spcPts val="600"/>
              </a:spcAft>
            </a:pPr>
            <a:r>
              <a:rPr sz="1200" b="0" i="0">
                <a:solidFill>
                  <a:srgbClr val="5F6B66"/>
                </a:solidFill>
                <a:latin typeface="Calibri"/>
              </a:rPr>
              <a:t>M1</a:t>
            </a:r>
          </a:p>
        </p:txBody>
      </p:sp>
      <p:sp>
        <p:nvSpPr>
          <p:cNvPr id="10" name="Oval 9"/>
          <p:cNvSpPr/>
          <p:nvPr/>
        </p:nvSpPr>
        <p:spPr>
          <a:xfrm>
            <a:off x="3675888" y="1691640"/>
            <a:ext cx="685800" cy="685800"/>
          </a:xfrm>
          <a:prstGeom prst="ellipse">
            <a:avLst/>
          </a:prstGeom>
          <a:solidFill>
            <a:srgbClr val="123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1" name="TextBox 10"/>
          <p:cNvSpPr txBox="1"/>
          <p:nvPr/>
        </p:nvSpPr>
        <p:spPr>
          <a:xfrm>
            <a:off x="3346704" y="2514600"/>
            <a:ext cx="1344168" cy="411480"/>
          </a:xfrm>
          <a:prstGeom prst="rect">
            <a:avLst/>
          </a:prstGeom>
          <a:noFill/>
        </p:spPr>
        <p:txBody>
          <a:bodyPr wrap="square" anchor="t" lIns="45720" rIns="45720">
            <a:spAutoFit/>
          </a:bodyPr>
          <a:lstStyle/>
          <a:p>
            <a:pPr algn="ctr">
              <a:spcAft>
                <a:spcPts val="600"/>
              </a:spcAft>
            </a:pPr>
            <a:r>
              <a:rPr sz="1600" b="1" i="0">
                <a:solidFill>
                  <a:srgbClr val="12372A"/>
                </a:solidFill>
                <a:latin typeface="Calibri"/>
              </a:rPr>
              <a:t>Clean</a:t>
            </a:r>
          </a:p>
        </p:txBody>
      </p:sp>
      <p:sp>
        <p:nvSpPr>
          <p:cNvPr id="12" name="TextBox 11"/>
          <p:cNvSpPr txBox="1"/>
          <p:nvPr/>
        </p:nvSpPr>
        <p:spPr>
          <a:xfrm>
            <a:off x="3346704" y="2880360"/>
            <a:ext cx="1344168" cy="411480"/>
          </a:xfrm>
          <a:prstGeom prst="rect">
            <a:avLst/>
          </a:prstGeom>
          <a:noFill/>
        </p:spPr>
        <p:txBody>
          <a:bodyPr wrap="square" anchor="t" lIns="45720" rIns="45720">
            <a:spAutoFit/>
          </a:bodyPr>
          <a:lstStyle/>
          <a:p>
            <a:pPr algn="ctr">
              <a:spcAft>
                <a:spcPts val="600"/>
              </a:spcAft>
            </a:pPr>
            <a:r>
              <a:rPr sz="1200" b="0" i="0">
                <a:solidFill>
                  <a:srgbClr val="5F6B66"/>
                </a:solidFill>
                <a:latin typeface="Calibri"/>
              </a:rPr>
              <a:t>M2 pandas</a:t>
            </a:r>
          </a:p>
        </p:txBody>
      </p:sp>
      <p:sp>
        <p:nvSpPr>
          <p:cNvPr id="13" name="Oval 12"/>
          <p:cNvSpPr/>
          <p:nvPr/>
        </p:nvSpPr>
        <p:spPr>
          <a:xfrm>
            <a:off x="5074920" y="1691640"/>
            <a:ext cx="685800" cy="685800"/>
          </a:xfrm>
          <a:prstGeom prst="ellipse">
            <a:avLst/>
          </a:prstGeom>
          <a:solidFill>
            <a:srgbClr val="1F5A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14" name="TextBox 13"/>
          <p:cNvSpPr txBox="1"/>
          <p:nvPr/>
        </p:nvSpPr>
        <p:spPr>
          <a:xfrm>
            <a:off x="4745736" y="2514600"/>
            <a:ext cx="1344168" cy="411480"/>
          </a:xfrm>
          <a:prstGeom prst="rect">
            <a:avLst/>
          </a:prstGeom>
          <a:noFill/>
        </p:spPr>
        <p:txBody>
          <a:bodyPr wrap="square" anchor="t" lIns="45720" rIns="45720">
            <a:spAutoFit/>
          </a:bodyPr>
          <a:lstStyle/>
          <a:p>
            <a:pPr algn="ctr">
              <a:spcAft>
                <a:spcPts val="600"/>
              </a:spcAft>
            </a:pPr>
            <a:r>
              <a:rPr sz="1600" b="1" i="0">
                <a:solidFill>
                  <a:srgbClr val="12372A"/>
                </a:solidFill>
                <a:latin typeface="Calibri"/>
              </a:rPr>
              <a:t>Explore</a:t>
            </a:r>
          </a:p>
        </p:txBody>
      </p:sp>
      <p:sp>
        <p:nvSpPr>
          <p:cNvPr id="15" name="TextBox 14"/>
          <p:cNvSpPr txBox="1"/>
          <p:nvPr/>
        </p:nvSpPr>
        <p:spPr>
          <a:xfrm>
            <a:off x="4745736" y="2880360"/>
            <a:ext cx="1344168" cy="411480"/>
          </a:xfrm>
          <a:prstGeom prst="rect">
            <a:avLst/>
          </a:prstGeom>
          <a:noFill/>
        </p:spPr>
        <p:txBody>
          <a:bodyPr wrap="square" anchor="t" lIns="45720" rIns="45720">
            <a:spAutoFit/>
          </a:bodyPr>
          <a:lstStyle/>
          <a:p>
            <a:pPr algn="ctr">
              <a:spcAft>
                <a:spcPts val="600"/>
              </a:spcAft>
            </a:pPr>
            <a:r>
              <a:rPr sz="1200" b="0" i="0">
                <a:solidFill>
                  <a:srgbClr val="5F6B66"/>
                </a:solidFill>
                <a:latin typeface="Calibri"/>
              </a:rPr>
              <a:t>M3 Seaborn</a:t>
            </a:r>
          </a:p>
        </p:txBody>
      </p:sp>
      <p:sp>
        <p:nvSpPr>
          <p:cNvPr id="16" name="Oval 15"/>
          <p:cNvSpPr/>
          <p:nvPr/>
        </p:nvSpPr>
        <p:spPr>
          <a:xfrm>
            <a:off x="6473952" y="1691640"/>
            <a:ext cx="685800" cy="685800"/>
          </a:xfrm>
          <a:prstGeom prst="ellipse">
            <a:avLst/>
          </a:prstGeom>
          <a:solidFill>
            <a:srgbClr val="123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5</a:t>
            </a:r>
          </a:p>
        </p:txBody>
      </p:sp>
      <p:sp>
        <p:nvSpPr>
          <p:cNvPr id="17" name="TextBox 16"/>
          <p:cNvSpPr txBox="1"/>
          <p:nvPr/>
        </p:nvSpPr>
        <p:spPr>
          <a:xfrm>
            <a:off x="6144768" y="2514600"/>
            <a:ext cx="1344168" cy="411480"/>
          </a:xfrm>
          <a:prstGeom prst="rect">
            <a:avLst/>
          </a:prstGeom>
          <a:noFill/>
        </p:spPr>
        <p:txBody>
          <a:bodyPr wrap="square" anchor="t" lIns="45720" rIns="45720">
            <a:spAutoFit/>
          </a:bodyPr>
          <a:lstStyle/>
          <a:p>
            <a:pPr algn="ctr">
              <a:spcAft>
                <a:spcPts val="600"/>
              </a:spcAft>
            </a:pPr>
            <a:r>
              <a:rPr sz="1600" b="1" i="0">
                <a:solidFill>
                  <a:srgbClr val="12372A"/>
                </a:solidFill>
                <a:latin typeface="Calibri"/>
              </a:rPr>
              <a:t>SQL</a:t>
            </a:r>
          </a:p>
        </p:txBody>
      </p:sp>
      <p:sp>
        <p:nvSpPr>
          <p:cNvPr id="18" name="TextBox 17"/>
          <p:cNvSpPr txBox="1"/>
          <p:nvPr/>
        </p:nvSpPr>
        <p:spPr>
          <a:xfrm>
            <a:off x="6144768" y="2880360"/>
            <a:ext cx="1344168" cy="411480"/>
          </a:xfrm>
          <a:prstGeom prst="rect">
            <a:avLst/>
          </a:prstGeom>
          <a:noFill/>
        </p:spPr>
        <p:txBody>
          <a:bodyPr wrap="square" anchor="t" lIns="45720" rIns="45720">
            <a:spAutoFit/>
          </a:bodyPr>
          <a:lstStyle/>
          <a:p>
            <a:pPr algn="ctr">
              <a:spcAft>
                <a:spcPts val="600"/>
              </a:spcAft>
            </a:pPr>
            <a:r>
              <a:rPr sz="1200" b="0" i="0">
                <a:solidFill>
                  <a:srgbClr val="5F6B66"/>
                </a:solidFill>
                <a:latin typeface="Calibri"/>
              </a:rPr>
              <a:t>M4 PostgreSQL</a:t>
            </a:r>
          </a:p>
        </p:txBody>
      </p:sp>
      <p:sp>
        <p:nvSpPr>
          <p:cNvPr id="19" name="Oval 18"/>
          <p:cNvSpPr/>
          <p:nvPr/>
        </p:nvSpPr>
        <p:spPr>
          <a:xfrm>
            <a:off x="7872983" y="1691640"/>
            <a:ext cx="685800" cy="685800"/>
          </a:xfrm>
          <a:prstGeom prst="ellipse">
            <a:avLst/>
          </a:prstGeom>
          <a:solidFill>
            <a:srgbClr val="1F5A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6</a:t>
            </a:r>
          </a:p>
        </p:txBody>
      </p:sp>
      <p:sp>
        <p:nvSpPr>
          <p:cNvPr id="20" name="TextBox 19"/>
          <p:cNvSpPr txBox="1"/>
          <p:nvPr/>
        </p:nvSpPr>
        <p:spPr>
          <a:xfrm>
            <a:off x="7543800" y="2514600"/>
            <a:ext cx="1344168" cy="411480"/>
          </a:xfrm>
          <a:prstGeom prst="rect">
            <a:avLst/>
          </a:prstGeom>
          <a:noFill/>
        </p:spPr>
        <p:txBody>
          <a:bodyPr wrap="square" anchor="t" lIns="45720" rIns="45720">
            <a:spAutoFit/>
          </a:bodyPr>
          <a:lstStyle/>
          <a:p>
            <a:pPr algn="ctr">
              <a:spcAft>
                <a:spcPts val="600"/>
              </a:spcAft>
            </a:pPr>
            <a:r>
              <a:rPr sz="1600" b="1" i="0">
                <a:solidFill>
                  <a:srgbClr val="12372A"/>
                </a:solidFill>
                <a:latin typeface="Calibri"/>
              </a:rPr>
              <a:t>Test</a:t>
            </a:r>
          </a:p>
        </p:txBody>
      </p:sp>
      <p:sp>
        <p:nvSpPr>
          <p:cNvPr id="21" name="TextBox 20"/>
          <p:cNvSpPr txBox="1"/>
          <p:nvPr/>
        </p:nvSpPr>
        <p:spPr>
          <a:xfrm>
            <a:off x="7543800" y="2880360"/>
            <a:ext cx="1344168" cy="411480"/>
          </a:xfrm>
          <a:prstGeom prst="rect">
            <a:avLst/>
          </a:prstGeom>
          <a:noFill/>
        </p:spPr>
        <p:txBody>
          <a:bodyPr wrap="square" anchor="t" lIns="45720" rIns="45720">
            <a:spAutoFit/>
          </a:bodyPr>
          <a:lstStyle/>
          <a:p>
            <a:pPr algn="ctr">
              <a:spcAft>
                <a:spcPts val="600"/>
              </a:spcAft>
            </a:pPr>
            <a:r>
              <a:rPr sz="1200" b="0" i="0">
                <a:solidFill>
                  <a:srgbClr val="5F6B66"/>
                </a:solidFill>
                <a:latin typeface="Calibri"/>
              </a:rPr>
              <a:t>M5 SciPy</a:t>
            </a:r>
          </a:p>
        </p:txBody>
      </p:sp>
      <p:sp>
        <p:nvSpPr>
          <p:cNvPr id="22" name="Oval 21"/>
          <p:cNvSpPr/>
          <p:nvPr/>
        </p:nvSpPr>
        <p:spPr>
          <a:xfrm>
            <a:off x="9272015" y="1691640"/>
            <a:ext cx="685800" cy="685800"/>
          </a:xfrm>
          <a:prstGeom prst="ellipse">
            <a:avLst/>
          </a:prstGeom>
          <a:solidFill>
            <a:srgbClr val="1237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7</a:t>
            </a:r>
          </a:p>
        </p:txBody>
      </p:sp>
      <p:sp>
        <p:nvSpPr>
          <p:cNvPr id="23" name="TextBox 22"/>
          <p:cNvSpPr txBox="1"/>
          <p:nvPr/>
        </p:nvSpPr>
        <p:spPr>
          <a:xfrm>
            <a:off x="8942832" y="2514600"/>
            <a:ext cx="1344168" cy="411480"/>
          </a:xfrm>
          <a:prstGeom prst="rect">
            <a:avLst/>
          </a:prstGeom>
          <a:noFill/>
        </p:spPr>
        <p:txBody>
          <a:bodyPr wrap="square" anchor="t" lIns="45720" rIns="45720">
            <a:spAutoFit/>
          </a:bodyPr>
          <a:lstStyle/>
          <a:p>
            <a:pPr algn="ctr">
              <a:spcAft>
                <a:spcPts val="600"/>
              </a:spcAft>
            </a:pPr>
            <a:r>
              <a:rPr sz="1600" b="1" i="0">
                <a:solidFill>
                  <a:srgbClr val="12372A"/>
                </a:solidFill>
                <a:latin typeface="Calibri"/>
              </a:rPr>
              <a:t>Model</a:t>
            </a:r>
          </a:p>
        </p:txBody>
      </p:sp>
      <p:sp>
        <p:nvSpPr>
          <p:cNvPr id="24" name="TextBox 23"/>
          <p:cNvSpPr txBox="1"/>
          <p:nvPr/>
        </p:nvSpPr>
        <p:spPr>
          <a:xfrm>
            <a:off x="8942832" y="2880360"/>
            <a:ext cx="1344168" cy="411480"/>
          </a:xfrm>
          <a:prstGeom prst="rect">
            <a:avLst/>
          </a:prstGeom>
          <a:noFill/>
        </p:spPr>
        <p:txBody>
          <a:bodyPr wrap="square" anchor="t" lIns="45720" rIns="45720">
            <a:spAutoFit/>
          </a:bodyPr>
          <a:lstStyle/>
          <a:p>
            <a:pPr algn="ctr">
              <a:spcAft>
                <a:spcPts val="600"/>
              </a:spcAft>
            </a:pPr>
            <a:r>
              <a:rPr sz="1200" b="0" i="0">
                <a:solidFill>
                  <a:srgbClr val="5F6B66"/>
                </a:solidFill>
                <a:latin typeface="Calibri"/>
              </a:rPr>
              <a:t>M6 scikit-learn</a:t>
            </a:r>
          </a:p>
        </p:txBody>
      </p:sp>
      <p:sp>
        <p:nvSpPr>
          <p:cNvPr id="25" name="Oval 24"/>
          <p:cNvSpPr/>
          <p:nvPr/>
        </p:nvSpPr>
        <p:spPr>
          <a:xfrm>
            <a:off x="10671048" y="1691640"/>
            <a:ext cx="685800" cy="685800"/>
          </a:xfrm>
          <a:prstGeom prst="ellipse">
            <a:avLst/>
          </a:prstGeom>
          <a:solidFill>
            <a:srgbClr val="1F5A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8</a:t>
            </a:r>
          </a:p>
        </p:txBody>
      </p:sp>
      <p:sp>
        <p:nvSpPr>
          <p:cNvPr id="26" name="TextBox 25"/>
          <p:cNvSpPr txBox="1"/>
          <p:nvPr/>
        </p:nvSpPr>
        <p:spPr>
          <a:xfrm>
            <a:off x="10341864" y="2514600"/>
            <a:ext cx="1344168" cy="411480"/>
          </a:xfrm>
          <a:prstGeom prst="rect">
            <a:avLst/>
          </a:prstGeom>
          <a:noFill/>
        </p:spPr>
        <p:txBody>
          <a:bodyPr wrap="square" anchor="t" lIns="45720" rIns="45720">
            <a:spAutoFit/>
          </a:bodyPr>
          <a:lstStyle/>
          <a:p>
            <a:pPr algn="ctr">
              <a:spcAft>
                <a:spcPts val="600"/>
              </a:spcAft>
            </a:pPr>
            <a:r>
              <a:rPr sz="1600" b="1" i="0">
                <a:solidFill>
                  <a:srgbClr val="12372A"/>
                </a:solidFill>
                <a:latin typeface="Calibri"/>
              </a:rPr>
              <a:t>Dashboard</a:t>
            </a:r>
          </a:p>
        </p:txBody>
      </p:sp>
      <p:sp>
        <p:nvSpPr>
          <p:cNvPr id="27" name="TextBox 26"/>
          <p:cNvSpPr txBox="1"/>
          <p:nvPr/>
        </p:nvSpPr>
        <p:spPr>
          <a:xfrm>
            <a:off x="10341864" y="2880360"/>
            <a:ext cx="1344168" cy="411480"/>
          </a:xfrm>
          <a:prstGeom prst="rect">
            <a:avLst/>
          </a:prstGeom>
          <a:noFill/>
        </p:spPr>
        <p:txBody>
          <a:bodyPr wrap="square" anchor="t" lIns="45720" rIns="45720">
            <a:spAutoFit/>
          </a:bodyPr>
          <a:lstStyle/>
          <a:p>
            <a:pPr algn="ctr">
              <a:spcAft>
                <a:spcPts val="600"/>
              </a:spcAft>
            </a:pPr>
            <a:r>
              <a:rPr sz="1200" b="0" i="0">
                <a:solidFill>
                  <a:srgbClr val="5F6B66"/>
                </a:solidFill>
                <a:latin typeface="Calibri"/>
              </a:rPr>
              <a:t>M7 Power BI</a:t>
            </a:r>
          </a:p>
        </p:txBody>
      </p:sp>
      <p:sp>
        <p:nvSpPr>
          <p:cNvPr id="28" name="Rounded Rectangle 27"/>
          <p:cNvSpPr/>
          <p:nvPr/>
        </p:nvSpPr>
        <p:spPr>
          <a:xfrm>
            <a:off x="548640" y="3840480"/>
            <a:ext cx="1737360" cy="137160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931920"/>
            <a:ext cx="1554480" cy="640080"/>
          </a:xfrm>
          <a:prstGeom prst="rect">
            <a:avLst/>
          </a:prstGeom>
          <a:noFill/>
        </p:spPr>
        <p:txBody>
          <a:bodyPr wrap="square" anchor="ctr" lIns="45720" rIns="45720">
            <a:spAutoFit/>
          </a:bodyPr>
          <a:lstStyle/>
          <a:p>
            <a:pPr algn="ctr">
              <a:spcAft>
                <a:spcPts val="600"/>
              </a:spcAft>
            </a:pPr>
            <a:r>
              <a:rPr sz="2800" b="1" i="0">
                <a:solidFill>
                  <a:srgbClr val="12372A"/>
                </a:solidFill>
                <a:latin typeface="Cambria"/>
              </a:rPr>
              <a:t>3,000</a:t>
            </a:r>
          </a:p>
        </p:txBody>
      </p:sp>
      <p:sp>
        <p:nvSpPr>
          <p:cNvPr id="30" name="TextBox 29"/>
          <p:cNvSpPr txBox="1"/>
          <p:nvPr/>
        </p:nvSpPr>
        <p:spPr>
          <a:xfrm>
            <a:off x="640080" y="4572000"/>
            <a:ext cx="1554480" cy="548640"/>
          </a:xfrm>
          <a:prstGeom prst="rect">
            <a:avLst/>
          </a:prstGeom>
          <a:noFill/>
        </p:spPr>
        <p:txBody>
          <a:bodyPr wrap="square" anchor="t" lIns="45720" rIns="45720">
            <a:spAutoFit/>
          </a:bodyPr>
          <a:lstStyle/>
          <a:p>
            <a:pPr algn="ctr">
              <a:spcAft>
                <a:spcPts val="600"/>
              </a:spcAft>
            </a:pPr>
            <a:r>
              <a:rPr sz="1400" b="0" i="0">
                <a:solidFill>
                  <a:srgbClr val="1B1B1B"/>
                </a:solidFill>
                <a:latin typeface="Calibri"/>
              </a:rPr>
              <a:t>raw sales rows</a:t>
            </a:r>
          </a:p>
        </p:txBody>
      </p:sp>
      <p:sp>
        <p:nvSpPr>
          <p:cNvPr id="31" name="Rounded Rectangle 30"/>
          <p:cNvSpPr/>
          <p:nvPr/>
        </p:nvSpPr>
        <p:spPr>
          <a:xfrm>
            <a:off x="2423160" y="3840480"/>
            <a:ext cx="1737360" cy="137160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14600" y="3931920"/>
            <a:ext cx="1554480" cy="640080"/>
          </a:xfrm>
          <a:prstGeom prst="rect">
            <a:avLst/>
          </a:prstGeom>
          <a:noFill/>
        </p:spPr>
        <p:txBody>
          <a:bodyPr wrap="square" anchor="ctr" lIns="45720" rIns="45720">
            <a:spAutoFit/>
          </a:bodyPr>
          <a:lstStyle/>
          <a:p>
            <a:pPr algn="ctr">
              <a:spcAft>
                <a:spcPts val="600"/>
              </a:spcAft>
            </a:pPr>
            <a:r>
              <a:rPr sz="2800" b="1" i="0">
                <a:solidFill>
                  <a:srgbClr val="12372A"/>
                </a:solidFill>
                <a:latin typeface="Cambria"/>
              </a:rPr>
              <a:t>2,650</a:t>
            </a:r>
          </a:p>
        </p:txBody>
      </p:sp>
      <p:sp>
        <p:nvSpPr>
          <p:cNvPr id="33" name="TextBox 32"/>
          <p:cNvSpPr txBox="1"/>
          <p:nvPr/>
        </p:nvSpPr>
        <p:spPr>
          <a:xfrm>
            <a:off x="2514600" y="4572000"/>
            <a:ext cx="1554480" cy="548640"/>
          </a:xfrm>
          <a:prstGeom prst="rect">
            <a:avLst/>
          </a:prstGeom>
          <a:noFill/>
        </p:spPr>
        <p:txBody>
          <a:bodyPr wrap="square" anchor="t" lIns="45720" rIns="45720">
            <a:spAutoFit/>
          </a:bodyPr>
          <a:lstStyle/>
          <a:p>
            <a:pPr algn="ctr">
              <a:spcAft>
                <a:spcPts val="600"/>
              </a:spcAft>
            </a:pPr>
            <a:r>
              <a:rPr sz="1400" b="0" i="0">
                <a:solidFill>
                  <a:srgbClr val="1B1B1B"/>
                </a:solidFill>
                <a:latin typeface="Calibri"/>
              </a:rPr>
              <a:t>receipts</a:t>
            </a:r>
          </a:p>
        </p:txBody>
      </p:sp>
      <p:sp>
        <p:nvSpPr>
          <p:cNvPr id="34" name="Rounded Rectangle 33"/>
          <p:cNvSpPr/>
          <p:nvPr/>
        </p:nvSpPr>
        <p:spPr>
          <a:xfrm>
            <a:off x="4297679" y="3840480"/>
            <a:ext cx="1737360" cy="137160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19" y="3931920"/>
            <a:ext cx="1554480" cy="640080"/>
          </a:xfrm>
          <a:prstGeom prst="rect">
            <a:avLst/>
          </a:prstGeom>
          <a:noFill/>
        </p:spPr>
        <p:txBody>
          <a:bodyPr wrap="square" anchor="ctr" lIns="45720" rIns="45720">
            <a:spAutoFit/>
          </a:bodyPr>
          <a:lstStyle/>
          <a:p>
            <a:pPr algn="ctr">
              <a:spcAft>
                <a:spcPts val="600"/>
              </a:spcAft>
            </a:pPr>
            <a:r>
              <a:rPr sz="2800" b="1" i="0">
                <a:solidFill>
                  <a:srgbClr val="12372A"/>
                </a:solidFill>
                <a:latin typeface="Cambria"/>
              </a:rPr>
              <a:t>1,800</a:t>
            </a:r>
          </a:p>
        </p:txBody>
      </p:sp>
      <p:sp>
        <p:nvSpPr>
          <p:cNvPr id="36" name="TextBox 35"/>
          <p:cNvSpPr txBox="1"/>
          <p:nvPr/>
        </p:nvSpPr>
        <p:spPr>
          <a:xfrm>
            <a:off x="4389119" y="4572000"/>
            <a:ext cx="1554480" cy="548640"/>
          </a:xfrm>
          <a:prstGeom prst="rect">
            <a:avLst/>
          </a:prstGeom>
          <a:noFill/>
        </p:spPr>
        <p:txBody>
          <a:bodyPr wrap="square" anchor="t" lIns="45720" rIns="45720">
            <a:spAutoFit/>
          </a:bodyPr>
          <a:lstStyle/>
          <a:p>
            <a:pPr algn="ctr">
              <a:spcAft>
                <a:spcPts val="600"/>
              </a:spcAft>
            </a:pPr>
            <a:r>
              <a:rPr sz="1400" b="0" i="0">
                <a:solidFill>
                  <a:srgbClr val="1B1B1B"/>
                </a:solidFill>
                <a:latin typeface="Calibri"/>
              </a:rPr>
              <a:t>customers</a:t>
            </a:r>
          </a:p>
        </p:txBody>
      </p:sp>
      <p:sp>
        <p:nvSpPr>
          <p:cNvPr id="37" name="Rounded Rectangle 36"/>
          <p:cNvSpPr/>
          <p:nvPr/>
        </p:nvSpPr>
        <p:spPr>
          <a:xfrm>
            <a:off x="6172199" y="3840480"/>
            <a:ext cx="1737360" cy="137160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63639" y="3931920"/>
            <a:ext cx="1554480" cy="640080"/>
          </a:xfrm>
          <a:prstGeom prst="rect">
            <a:avLst/>
          </a:prstGeom>
          <a:noFill/>
        </p:spPr>
        <p:txBody>
          <a:bodyPr wrap="square" anchor="ctr" lIns="45720" rIns="45720">
            <a:spAutoFit/>
          </a:bodyPr>
          <a:lstStyle/>
          <a:p>
            <a:pPr algn="ctr">
              <a:spcAft>
                <a:spcPts val="600"/>
              </a:spcAft>
            </a:pPr>
            <a:r>
              <a:rPr sz="2800" b="1" i="0">
                <a:solidFill>
                  <a:srgbClr val="12372A"/>
                </a:solidFill>
                <a:latin typeface="Cambria"/>
              </a:rPr>
              <a:t>40</a:t>
            </a:r>
          </a:p>
        </p:txBody>
      </p:sp>
      <p:sp>
        <p:nvSpPr>
          <p:cNvPr id="39" name="TextBox 38"/>
          <p:cNvSpPr txBox="1"/>
          <p:nvPr/>
        </p:nvSpPr>
        <p:spPr>
          <a:xfrm>
            <a:off x="6263639" y="4572000"/>
            <a:ext cx="1554480" cy="548640"/>
          </a:xfrm>
          <a:prstGeom prst="rect">
            <a:avLst/>
          </a:prstGeom>
          <a:noFill/>
        </p:spPr>
        <p:txBody>
          <a:bodyPr wrap="square" anchor="t" lIns="45720" rIns="45720">
            <a:spAutoFit/>
          </a:bodyPr>
          <a:lstStyle/>
          <a:p>
            <a:pPr algn="ctr">
              <a:spcAft>
                <a:spcPts val="600"/>
              </a:spcAft>
            </a:pPr>
            <a:r>
              <a:rPr sz="1400" b="0" i="0">
                <a:solidFill>
                  <a:srgbClr val="1B1B1B"/>
                </a:solidFill>
                <a:latin typeface="Calibri"/>
              </a:rPr>
              <a:t>products, 6 categories</a:t>
            </a:r>
          </a:p>
        </p:txBody>
      </p:sp>
      <p:sp>
        <p:nvSpPr>
          <p:cNvPr id="40" name="Rounded Rectangle 39"/>
          <p:cNvSpPr/>
          <p:nvPr/>
        </p:nvSpPr>
        <p:spPr>
          <a:xfrm>
            <a:off x="8046719" y="3840480"/>
            <a:ext cx="1737360" cy="137160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38159" y="3931920"/>
            <a:ext cx="1554480" cy="640080"/>
          </a:xfrm>
          <a:prstGeom prst="rect">
            <a:avLst/>
          </a:prstGeom>
          <a:noFill/>
        </p:spPr>
        <p:txBody>
          <a:bodyPr wrap="square" anchor="ctr" lIns="45720" rIns="45720">
            <a:spAutoFit/>
          </a:bodyPr>
          <a:lstStyle/>
          <a:p>
            <a:pPr algn="ctr">
              <a:spcAft>
                <a:spcPts val="600"/>
              </a:spcAft>
            </a:pPr>
            <a:r>
              <a:rPr sz="2800" b="1" i="0">
                <a:solidFill>
                  <a:srgbClr val="12372A"/>
                </a:solidFill>
                <a:latin typeface="Cambria"/>
              </a:rPr>
              <a:t>6</a:t>
            </a:r>
          </a:p>
        </p:txBody>
      </p:sp>
      <p:sp>
        <p:nvSpPr>
          <p:cNvPr id="42" name="TextBox 41"/>
          <p:cNvSpPr txBox="1"/>
          <p:nvPr/>
        </p:nvSpPr>
        <p:spPr>
          <a:xfrm>
            <a:off x="8138159" y="4572000"/>
            <a:ext cx="1554480" cy="548640"/>
          </a:xfrm>
          <a:prstGeom prst="rect">
            <a:avLst/>
          </a:prstGeom>
          <a:noFill/>
        </p:spPr>
        <p:txBody>
          <a:bodyPr wrap="square" anchor="t" lIns="45720" rIns="45720">
            <a:spAutoFit/>
          </a:bodyPr>
          <a:lstStyle/>
          <a:p>
            <a:pPr algn="ctr">
              <a:spcAft>
                <a:spcPts val="600"/>
              </a:spcAft>
            </a:pPr>
            <a:r>
              <a:rPr sz="1400" b="0" i="0">
                <a:solidFill>
                  <a:srgbClr val="1B1B1B"/>
                </a:solidFill>
                <a:latin typeface="Calibri"/>
              </a:rPr>
              <a:t>stores</a:t>
            </a:r>
          </a:p>
        </p:txBody>
      </p:sp>
      <p:sp>
        <p:nvSpPr>
          <p:cNvPr id="43" name="Rounded Rectangle 42"/>
          <p:cNvSpPr/>
          <p:nvPr/>
        </p:nvSpPr>
        <p:spPr>
          <a:xfrm>
            <a:off x="9921240" y="3840480"/>
            <a:ext cx="1737360" cy="137160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12680" y="3931920"/>
            <a:ext cx="1554480" cy="640080"/>
          </a:xfrm>
          <a:prstGeom prst="rect">
            <a:avLst/>
          </a:prstGeom>
          <a:noFill/>
        </p:spPr>
        <p:txBody>
          <a:bodyPr wrap="square" anchor="ctr" lIns="45720" rIns="45720">
            <a:spAutoFit/>
          </a:bodyPr>
          <a:lstStyle/>
          <a:p>
            <a:pPr algn="ctr">
              <a:spcAft>
                <a:spcPts val="600"/>
              </a:spcAft>
            </a:pPr>
            <a:r>
              <a:rPr sz="2800" b="1" i="0">
                <a:solidFill>
                  <a:srgbClr val="12372A"/>
                </a:solidFill>
                <a:latin typeface="Cambria"/>
              </a:rPr>
              <a:t>28</a:t>
            </a:r>
          </a:p>
        </p:txBody>
      </p:sp>
      <p:sp>
        <p:nvSpPr>
          <p:cNvPr id="45" name="TextBox 44"/>
          <p:cNvSpPr txBox="1"/>
          <p:nvPr/>
        </p:nvSpPr>
        <p:spPr>
          <a:xfrm>
            <a:off x="10012680" y="4572000"/>
            <a:ext cx="1554480" cy="548640"/>
          </a:xfrm>
          <a:prstGeom prst="rect">
            <a:avLst/>
          </a:prstGeom>
          <a:noFill/>
        </p:spPr>
        <p:txBody>
          <a:bodyPr wrap="square" anchor="t" lIns="45720" rIns="45720">
            <a:spAutoFit/>
          </a:bodyPr>
          <a:lstStyle/>
          <a:p>
            <a:pPr algn="ctr">
              <a:spcAft>
                <a:spcPts val="600"/>
              </a:spcAft>
            </a:pPr>
            <a:r>
              <a:rPr sz="1400" b="0" i="0">
                <a:solidFill>
                  <a:srgbClr val="1B1B1B"/>
                </a:solidFill>
                <a:latin typeface="Calibri"/>
              </a:rPr>
              <a:t>real public holidays</a:t>
            </a:r>
          </a:p>
        </p:txBody>
      </p:sp>
      <p:sp>
        <p:nvSpPr>
          <p:cNvPr id="46" name="TextBox 45"/>
          <p:cNvSpPr txBox="1"/>
          <p:nvPr/>
        </p:nvSpPr>
        <p:spPr>
          <a:xfrm>
            <a:off x="548640" y="5486400"/>
            <a:ext cx="11064240" cy="640080"/>
          </a:xfrm>
          <a:prstGeom prst="rect">
            <a:avLst/>
          </a:prstGeom>
          <a:noFill/>
        </p:spPr>
        <p:txBody>
          <a:bodyPr wrap="square" anchor="t" lIns="45720" rIns="45720">
            <a:spAutoFit/>
          </a:bodyPr>
          <a:lstStyle/>
          <a:p>
            <a:pPr algn="l">
              <a:spcAft>
                <a:spcPts val="600"/>
              </a:spcAft>
            </a:pPr>
            <a:r>
              <a:rPr sz="1600" b="0" i="0">
                <a:solidFill>
                  <a:srgbClr val="5F6B66"/>
                </a:solidFill>
                <a:latin typeface="Calibri"/>
              </a:rPr>
              <a:t>Synthetic by design: shareable without privacy risk, and every pattern has a known cause that the analysis can be checked against.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Cleaning found all 126 injected data-quality issues</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5</a:t>
            </a:r>
          </a:p>
        </p:txBody>
      </p:sp>
      <p:sp>
        <p:nvSpPr>
          <p:cNvPr id="4" name="Rounded Rectangle 3"/>
          <p:cNvSpPr/>
          <p:nvPr/>
        </p:nvSpPr>
        <p:spPr>
          <a:xfrm>
            <a:off x="548640" y="1554480"/>
            <a:ext cx="3291840" cy="210312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2926080" cy="621792"/>
          </a:xfrm>
          <a:prstGeom prst="rect">
            <a:avLst/>
          </a:prstGeom>
          <a:noFill/>
        </p:spPr>
        <p:txBody>
          <a:bodyPr wrap="square" anchor="ctr" lIns="45720" rIns="45720">
            <a:spAutoFit/>
          </a:bodyPr>
          <a:lstStyle/>
          <a:p>
            <a:pPr algn="l">
              <a:spcAft>
                <a:spcPts val="600"/>
              </a:spcAft>
            </a:pPr>
            <a:r>
              <a:rPr sz="3400" b="1" i="0">
                <a:solidFill>
                  <a:srgbClr val="12372A"/>
                </a:solidFill>
                <a:latin typeface="Cambria"/>
              </a:rPr>
              <a:t>126 / 126</a:t>
            </a:r>
          </a:p>
        </p:txBody>
      </p:sp>
      <p:sp>
        <p:nvSpPr>
          <p:cNvPr id="6" name="TextBox 5"/>
          <p:cNvSpPr txBox="1"/>
          <p:nvPr/>
        </p:nvSpPr>
        <p:spPr>
          <a:xfrm>
            <a:off x="731520" y="2286000"/>
            <a:ext cx="2926080" cy="128016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logged issues detected, checked cell by cell against the true data</a:t>
            </a:r>
          </a:p>
        </p:txBody>
      </p:sp>
      <p:sp>
        <p:nvSpPr>
          <p:cNvPr id="7" name="Rounded Rectangle 6"/>
          <p:cNvSpPr/>
          <p:nvPr/>
        </p:nvSpPr>
        <p:spPr>
          <a:xfrm>
            <a:off x="548640" y="3840480"/>
            <a:ext cx="3291840" cy="210312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931920"/>
            <a:ext cx="2926080" cy="621792"/>
          </a:xfrm>
          <a:prstGeom prst="rect">
            <a:avLst/>
          </a:prstGeom>
          <a:noFill/>
        </p:spPr>
        <p:txBody>
          <a:bodyPr wrap="square" anchor="ctr" lIns="45720" rIns="45720">
            <a:spAutoFit/>
          </a:bodyPr>
          <a:lstStyle/>
          <a:p>
            <a:pPr algn="l">
              <a:spcAft>
                <a:spcPts val="600"/>
              </a:spcAft>
            </a:pPr>
            <a:r>
              <a:rPr sz="3400" b="1" i="0">
                <a:solidFill>
                  <a:srgbClr val="EB6834"/>
                </a:solidFill>
                <a:latin typeface="Cambria"/>
              </a:rPr>
              <a:t>KES 1.44M</a:t>
            </a:r>
          </a:p>
        </p:txBody>
      </p:sp>
      <p:sp>
        <p:nvSpPr>
          <p:cNvPr id="9" name="TextBox 8"/>
          <p:cNvSpPr txBox="1"/>
          <p:nvPr/>
        </p:nvSpPr>
        <p:spPr>
          <a:xfrm>
            <a:off x="731520" y="4572000"/>
            <a:ext cx="2926080" cy="128016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phantom revenue avoided by correcting four quantity-999 errors</a:t>
            </a:r>
          </a:p>
        </p:txBody>
      </p:sp>
      <p:graphicFrame>
        <p:nvGraphicFramePr>
          <p:cNvPr id="10" name="Table 9"/>
          <p:cNvGraphicFramePr>
            <a:graphicFrameLocks noGrp="1"/>
          </p:cNvGraphicFramePr>
          <p:nvPr/>
        </p:nvGraphicFramePr>
        <p:xfrm>
          <a:off x="4206240" y="1554480"/>
          <a:ext cx="7406640" cy="4389120"/>
        </p:xfrm>
        <a:graphic>
          <a:graphicData uri="http://schemas.openxmlformats.org/drawingml/2006/table">
            <a:tbl>
              <a:tblPr firstRow="1" bandRow="1">
                <a:tableStyleId>{5C22544A-7EE6-4342-B048-85BDC9FD1C3A}</a:tableStyleId>
              </a:tblPr>
              <a:tblGrid>
                <a:gridCol w="2743200"/>
                <a:gridCol w="822960"/>
                <a:gridCol w="3840480"/>
              </a:tblGrid>
              <a:tr h="548640">
                <a:tc>
                  <a:txBody>
                    <a:bodyPr/>
                    <a:lstStyle/>
                    <a:p>
                      <a:r>
                        <a:rPr sz="1500" b="1">
                          <a:solidFill>
                            <a:srgbClr val="FFFFFF"/>
                          </a:solidFill>
                          <a:latin typeface="Calibri"/>
                        </a:rPr>
                        <a:t>Issue</a:t>
                      </a:r>
                    </a:p>
                  </a:txBody>
                  <a:tcPr marL="91440" marR="91440" anchor="ctr">
                    <a:solidFill>
                      <a:srgbClr val="12372A"/>
                    </a:solidFill>
                  </a:tcPr>
                </a:tc>
                <a:tc>
                  <a:txBody>
                    <a:bodyPr/>
                    <a:lstStyle/>
                    <a:p>
                      <a:pPr algn="r"/>
                      <a:r>
                        <a:rPr sz="1500" b="1">
                          <a:solidFill>
                            <a:srgbClr val="FFFFFF"/>
                          </a:solidFill>
                          <a:latin typeface="Calibri"/>
                        </a:rPr>
                        <a:t>Rows</a:t>
                      </a:r>
                    </a:p>
                  </a:txBody>
                  <a:tcPr marL="91440" marR="91440" anchor="ctr">
                    <a:solidFill>
                      <a:srgbClr val="12372A"/>
                    </a:solidFill>
                  </a:tcPr>
                </a:tc>
                <a:tc>
                  <a:txBody>
                    <a:bodyPr/>
                    <a:lstStyle/>
                    <a:p>
                      <a:r>
                        <a:rPr sz="1500" b="1">
                          <a:solidFill>
                            <a:srgbClr val="FFFFFF"/>
                          </a:solidFill>
                          <a:latin typeface="Calibri"/>
                        </a:rPr>
                        <a:t>Decision</a:t>
                      </a:r>
                    </a:p>
                  </a:txBody>
                  <a:tcPr marL="91440" marR="91440" anchor="ctr">
                    <a:solidFill>
                      <a:srgbClr val="12372A"/>
                    </a:solidFill>
                  </a:tcPr>
                </a:tc>
              </a:tr>
              <a:tr h="548640">
                <a:tc>
                  <a:txBody>
                    <a:bodyPr/>
                    <a:lstStyle/>
                    <a:p>
                      <a:r>
                        <a:rPr sz="1500" b="0">
                          <a:solidFill>
                            <a:srgbClr val="1B1B1B"/>
                          </a:solidFill>
                          <a:latin typeface="Calibri"/>
                        </a:rPr>
                        <a:t>Exact duplicates</a:t>
                      </a:r>
                    </a:p>
                  </a:txBody>
                  <a:tcPr marL="91440" marR="91440" anchor="ctr">
                    <a:solidFill>
                      <a:srgbClr val="FFFFFF"/>
                    </a:solidFill>
                  </a:tcPr>
                </a:tc>
                <a:tc>
                  <a:txBody>
                    <a:bodyPr/>
                    <a:lstStyle/>
                    <a:p>
                      <a:pPr algn="r"/>
                      <a:r>
                        <a:rPr sz="1500" b="0">
                          <a:solidFill>
                            <a:srgbClr val="1B1B1B"/>
                          </a:solidFill>
                          <a:latin typeface="Calibri"/>
                        </a:rPr>
                        <a:t>12</a:t>
                      </a:r>
                    </a:p>
                  </a:txBody>
                  <a:tcPr marL="91440" marR="91440" anchor="ctr">
                    <a:solidFill>
                      <a:srgbClr val="FFFFFF"/>
                    </a:solidFill>
                  </a:tcPr>
                </a:tc>
                <a:tc>
                  <a:txBody>
                    <a:bodyPr/>
                    <a:lstStyle/>
                    <a:p>
                      <a:r>
                        <a:rPr sz="1500" b="0">
                          <a:solidFill>
                            <a:srgbClr val="1B1B1B"/>
                          </a:solidFill>
                          <a:latin typeface="Calibri"/>
                        </a:rPr>
                        <a:t>Removed</a:t>
                      </a:r>
                    </a:p>
                  </a:txBody>
                  <a:tcPr marL="91440" marR="91440" anchor="ctr">
                    <a:solidFill>
                      <a:srgbClr val="FFFFFF"/>
                    </a:solidFill>
                  </a:tcPr>
                </a:tc>
              </a:tr>
              <a:tr h="548640">
                <a:tc>
                  <a:txBody>
                    <a:bodyPr/>
                    <a:lstStyle/>
                    <a:p>
                      <a:r>
                        <a:rPr sz="1500" b="0">
                          <a:solidFill>
                            <a:srgbClr val="1B1B1B"/>
                          </a:solidFill>
                          <a:latin typeface="Calibri"/>
                        </a:rPr>
                        <a:t>Payment label variants</a:t>
                      </a:r>
                    </a:p>
                  </a:txBody>
                  <a:tcPr marL="91440" marR="91440" anchor="ctr">
                    <a:solidFill>
                      <a:srgbClr val="EDF3EF"/>
                    </a:solidFill>
                  </a:tcPr>
                </a:tc>
                <a:tc>
                  <a:txBody>
                    <a:bodyPr/>
                    <a:lstStyle/>
                    <a:p>
                      <a:pPr algn="r"/>
                      <a:r>
                        <a:rPr sz="1500" b="0">
                          <a:solidFill>
                            <a:srgbClr val="1B1B1B"/>
                          </a:solidFill>
                          <a:latin typeface="Calibri"/>
                        </a:rPr>
                        <a:t>30</a:t>
                      </a:r>
                    </a:p>
                  </a:txBody>
                  <a:tcPr marL="91440" marR="91440" anchor="ctr">
                    <a:solidFill>
                      <a:srgbClr val="EDF3EF"/>
                    </a:solidFill>
                  </a:tcPr>
                </a:tc>
                <a:tc>
                  <a:txBody>
                    <a:bodyPr/>
                    <a:lstStyle/>
                    <a:p>
                      <a:r>
                        <a:rPr sz="1500" b="0">
                          <a:solidFill>
                            <a:srgbClr val="1B1B1B"/>
                          </a:solidFill>
                          <a:latin typeface="Calibri"/>
                        </a:rPr>
                        <a:t>Mapped to 4 standard labels</a:t>
                      </a:r>
                    </a:p>
                  </a:txBody>
                  <a:tcPr marL="91440" marR="91440" anchor="ctr">
                    <a:solidFill>
                      <a:srgbClr val="EDF3EF"/>
                    </a:solidFill>
                  </a:tcPr>
                </a:tc>
              </a:tr>
              <a:tr h="548640">
                <a:tc>
                  <a:txBody>
                    <a:bodyPr/>
                    <a:lstStyle/>
                    <a:p>
                      <a:r>
                        <a:rPr sz="1500" b="0">
                          <a:solidFill>
                            <a:srgbClr val="1B1B1B"/>
                          </a:solidFill>
                          <a:latin typeface="Calibri"/>
                        </a:rPr>
                        <a:t>Dates in DD/MM/YYYY</a:t>
                      </a:r>
                    </a:p>
                  </a:txBody>
                  <a:tcPr marL="91440" marR="91440" anchor="ctr">
                    <a:solidFill>
                      <a:srgbClr val="FFFFFF"/>
                    </a:solidFill>
                  </a:tcPr>
                </a:tc>
                <a:tc>
                  <a:txBody>
                    <a:bodyPr/>
                    <a:lstStyle/>
                    <a:p>
                      <a:pPr algn="r"/>
                      <a:r>
                        <a:rPr sz="1500" b="0">
                          <a:solidFill>
                            <a:srgbClr val="1B1B1B"/>
                          </a:solidFill>
                          <a:latin typeface="Calibri"/>
                        </a:rPr>
                        <a:t>15</a:t>
                      </a:r>
                    </a:p>
                  </a:txBody>
                  <a:tcPr marL="91440" marR="91440" anchor="ctr">
                    <a:solidFill>
                      <a:srgbClr val="FFFFFF"/>
                    </a:solidFill>
                  </a:tcPr>
                </a:tc>
                <a:tc>
                  <a:txBody>
                    <a:bodyPr/>
                    <a:lstStyle/>
                    <a:p>
                      <a:r>
                        <a:rPr sz="1500" b="0">
                          <a:solidFill>
                            <a:srgbClr val="1B1B1B"/>
                          </a:solidFill>
                          <a:latin typeface="Calibri"/>
                        </a:rPr>
                        <a:t>Parsed with an explicit format</a:t>
                      </a:r>
                    </a:p>
                  </a:txBody>
                  <a:tcPr marL="91440" marR="91440" anchor="ctr">
                    <a:solidFill>
                      <a:srgbClr val="FFFFFF"/>
                    </a:solidFill>
                  </a:tcPr>
                </a:tc>
              </a:tr>
              <a:tr h="548640">
                <a:tc>
                  <a:txBody>
                    <a:bodyPr/>
                    <a:lstStyle/>
                    <a:p>
                      <a:r>
                        <a:rPr sz="1500" b="0">
                          <a:solidFill>
                            <a:srgbClr val="1B1B1B"/>
                          </a:solidFill>
                          <a:latin typeface="Calibri"/>
                        </a:rPr>
                        <a:t>Missing payment method</a:t>
                      </a:r>
                    </a:p>
                  </a:txBody>
                  <a:tcPr marL="91440" marR="91440" anchor="ctr">
                    <a:solidFill>
                      <a:srgbClr val="EDF3EF"/>
                    </a:solidFill>
                  </a:tcPr>
                </a:tc>
                <a:tc>
                  <a:txBody>
                    <a:bodyPr/>
                    <a:lstStyle/>
                    <a:p>
                      <a:pPr algn="r"/>
                      <a:r>
                        <a:rPr sz="1500" b="0">
                          <a:solidFill>
                            <a:srgbClr val="1B1B1B"/>
                          </a:solidFill>
                          <a:latin typeface="Calibri"/>
                        </a:rPr>
                        <a:t>10</a:t>
                      </a:r>
                    </a:p>
                  </a:txBody>
                  <a:tcPr marL="91440" marR="91440" anchor="ctr">
                    <a:solidFill>
                      <a:srgbClr val="EDF3EF"/>
                    </a:solidFill>
                  </a:tcPr>
                </a:tc>
                <a:tc>
                  <a:txBody>
                    <a:bodyPr/>
                    <a:lstStyle/>
                    <a:p>
                      <a:r>
                        <a:rPr sz="1500" b="0">
                          <a:solidFill>
                            <a:srgbClr val="1B1B1B"/>
                          </a:solidFill>
                          <a:latin typeface="Calibri"/>
                        </a:rPr>
                        <a:t>3 recovered from receipt, 7 'Unknown'</a:t>
                      </a:r>
                    </a:p>
                  </a:txBody>
                  <a:tcPr marL="91440" marR="91440" anchor="ctr">
                    <a:solidFill>
                      <a:srgbClr val="EDF3EF"/>
                    </a:solidFill>
                  </a:tcPr>
                </a:tc>
              </a:tr>
              <a:tr h="548640">
                <a:tc>
                  <a:txBody>
                    <a:bodyPr/>
                    <a:lstStyle/>
                    <a:p>
                      <a:r>
                        <a:rPr sz="1500" b="0">
                          <a:solidFill>
                            <a:srgbClr val="1B1B1B"/>
                          </a:solidFill>
                          <a:latin typeface="Calibri"/>
                        </a:rPr>
                        <a:t>Missing customer ID</a:t>
                      </a:r>
                    </a:p>
                  </a:txBody>
                  <a:tcPr marL="91440" marR="91440" anchor="ctr">
                    <a:solidFill>
                      <a:srgbClr val="FFFFFF"/>
                    </a:solidFill>
                  </a:tcPr>
                </a:tc>
                <a:tc>
                  <a:txBody>
                    <a:bodyPr/>
                    <a:lstStyle/>
                    <a:p>
                      <a:pPr algn="r"/>
                      <a:r>
                        <a:rPr sz="1500" b="0">
                          <a:solidFill>
                            <a:srgbClr val="1B1B1B"/>
                          </a:solidFill>
                          <a:latin typeface="Calibri"/>
                        </a:rPr>
                        <a:t>25</a:t>
                      </a:r>
                    </a:p>
                  </a:txBody>
                  <a:tcPr marL="91440" marR="91440" anchor="ctr">
                    <a:solidFill>
                      <a:srgbClr val="FFFFFF"/>
                    </a:solidFill>
                  </a:tcPr>
                </a:tc>
                <a:tc>
                  <a:txBody>
                    <a:bodyPr/>
                    <a:lstStyle/>
                    <a:p>
                      <a:r>
                        <a:rPr sz="1500" b="0">
                          <a:solidFill>
                            <a:srgbClr val="1B1B1B"/>
                          </a:solidFill>
                          <a:latin typeface="Calibri"/>
                        </a:rPr>
                        <a:t>4 recovered, 21 flagged walk-in</a:t>
                      </a:r>
                    </a:p>
                  </a:txBody>
                  <a:tcPr marL="91440" marR="91440" anchor="ctr">
                    <a:solidFill>
                      <a:srgbClr val="FFFFFF"/>
                    </a:solidFill>
                  </a:tcPr>
                </a:tc>
              </a:tr>
              <a:tr h="548640">
                <a:tc>
                  <a:txBody>
                    <a:bodyPr/>
                    <a:lstStyle/>
                    <a:p>
                      <a:r>
                        <a:rPr sz="1500" b="0">
                          <a:solidFill>
                            <a:srgbClr val="1B1B1B"/>
                          </a:solidFill>
                          <a:latin typeface="Calibri"/>
                        </a:rPr>
                        <a:t>Quantity 999</a:t>
                      </a:r>
                    </a:p>
                  </a:txBody>
                  <a:tcPr marL="91440" marR="91440" anchor="ctr">
                    <a:solidFill>
                      <a:srgbClr val="EDF3EF"/>
                    </a:solidFill>
                  </a:tcPr>
                </a:tc>
                <a:tc>
                  <a:txBody>
                    <a:bodyPr/>
                    <a:lstStyle/>
                    <a:p>
                      <a:pPr algn="r"/>
                      <a:r>
                        <a:rPr sz="1500" b="0">
                          <a:solidFill>
                            <a:srgbClr val="1B1B1B"/>
                          </a:solidFill>
                          <a:latin typeface="Calibri"/>
                        </a:rPr>
                        <a:t>4</a:t>
                      </a:r>
                    </a:p>
                  </a:txBody>
                  <a:tcPr marL="91440" marR="91440" anchor="ctr">
                    <a:solidFill>
                      <a:srgbClr val="EDF3EF"/>
                    </a:solidFill>
                  </a:tcPr>
                </a:tc>
                <a:tc>
                  <a:txBody>
                    <a:bodyPr/>
                    <a:lstStyle/>
                    <a:p>
                      <a:r>
                        <a:rPr sz="1500" b="0">
                          <a:solidFill>
                            <a:srgbClr val="1B1B1B"/>
                          </a:solidFill>
                          <a:latin typeface="Calibri"/>
                        </a:rPr>
                        <a:t>Restored from the receipt total</a:t>
                      </a:r>
                    </a:p>
                  </a:txBody>
                  <a:tcPr marL="91440" marR="91440" anchor="ctr">
                    <a:solidFill>
                      <a:srgbClr val="EDF3EF"/>
                    </a:solidFill>
                  </a:tcPr>
                </a:tc>
              </a:tr>
              <a:tr h="548640">
                <a:tc>
                  <a:txBody>
                    <a:bodyPr/>
                    <a:lstStyle/>
                    <a:p>
                      <a:r>
                        <a:rPr sz="1500" b="0">
                          <a:solidFill>
                            <a:srgbClr val="1B1B1B"/>
                          </a:solidFill>
                          <a:latin typeface="Calibri"/>
                        </a:rPr>
                        <a:t>Bulk buys, big electronics</a:t>
                      </a:r>
                    </a:p>
                  </a:txBody>
                  <a:tcPr marL="91440" marR="91440" anchor="ctr">
                    <a:solidFill>
                      <a:srgbClr val="FFFFFF"/>
                    </a:solidFill>
                  </a:tcPr>
                </a:tc>
                <a:tc>
                  <a:txBody>
                    <a:bodyPr/>
                    <a:lstStyle/>
                    <a:p>
                      <a:pPr algn="r"/>
                      <a:r>
                        <a:rPr sz="1500" b="0">
                          <a:solidFill>
                            <a:srgbClr val="1B1B1B"/>
                          </a:solidFill>
                          <a:latin typeface="Calibri"/>
                        </a:rPr>
                        <a:t>2 + 356</a:t>
                      </a:r>
                    </a:p>
                  </a:txBody>
                  <a:tcPr marL="91440" marR="91440" anchor="ctr">
                    <a:solidFill>
                      <a:srgbClr val="FFFFFF"/>
                    </a:solidFill>
                  </a:tcPr>
                </a:tc>
                <a:tc>
                  <a:txBody>
                    <a:bodyPr/>
                    <a:lstStyle/>
                    <a:p>
                      <a:r>
                        <a:rPr sz="1500" b="0">
                          <a:solidFill>
                            <a:srgbClr val="1B1B1B"/>
                          </a:solidFill>
                          <a:latin typeface="Calibri"/>
                        </a:rPr>
                        <a:t>Kept: they reconcile</a:t>
                      </a:r>
                    </a:p>
                  </a:txBody>
                  <a:tcPr marL="91440" marR="91440"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Revenue grew 8.8%, but units fell 4.7%</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6</a:t>
            </a:r>
          </a:p>
        </p:txBody>
      </p:sp>
      <p:graphicFrame>
        <p:nvGraphicFramePr>
          <p:cNvPr id="4" name="Chart 3"/>
          <p:cNvGraphicFramePr>
            <a:graphicFrameLocks noGrp="1"/>
          </p:cNvGraphicFramePr>
          <p:nvPr/>
        </p:nvGraphicFramePr>
        <p:xfrm>
          <a:off x="548640" y="1463040"/>
          <a:ext cx="7498079" cy="4572000"/>
        </p:xfrm>
        <a:graphic>
          <a:graphicData uri="http://schemas.openxmlformats.org/drawingml/2006/chart">
            <c:chart xmlns:c="http://schemas.openxmlformats.org/drawingml/2006/chart" r:id="rId3"/>
          </a:graphicData>
        </a:graphic>
      </p:graphicFrame>
      <p:sp>
        <p:nvSpPr>
          <p:cNvPr id="5" name="Rounded Rectangle 4"/>
          <p:cNvSpPr/>
          <p:nvPr/>
        </p:nvSpPr>
        <p:spPr>
          <a:xfrm>
            <a:off x="8412480" y="1463040"/>
            <a:ext cx="3200400" cy="141732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59" y="1554480"/>
            <a:ext cx="2834640" cy="621792"/>
          </a:xfrm>
          <a:prstGeom prst="rect">
            <a:avLst/>
          </a:prstGeom>
          <a:noFill/>
        </p:spPr>
        <p:txBody>
          <a:bodyPr wrap="square" anchor="ctr" lIns="45720" rIns="45720">
            <a:spAutoFit/>
          </a:bodyPr>
          <a:lstStyle/>
          <a:p>
            <a:pPr algn="l">
              <a:spcAft>
                <a:spcPts val="600"/>
              </a:spcAft>
            </a:pPr>
            <a:r>
              <a:rPr sz="3200" b="1" i="0">
                <a:solidFill>
                  <a:srgbClr val="12372A"/>
                </a:solidFill>
                <a:latin typeface="Cambria"/>
              </a:rPr>
              <a:t>+8.8%</a:t>
            </a:r>
          </a:p>
        </p:txBody>
      </p:sp>
      <p:sp>
        <p:nvSpPr>
          <p:cNvPr id="7" name="TextBox 6"/>
          <p:cNvSpPr txBox="1"/>
          <p:nvPr/>
        </p:nvSpPr>
        <p:spPr>
          <a:xfrm>
            <a:off x="8595359" y="2194560"/>
            <a:ext cx="2834640" cy="59436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revenue, 2025 vs 2024</a:t>
            </a:r>
          </a:p>
        </p:txBody>
      </p:sp>
      <p:sp>
        <p:nvSpPr>
          <p:cNvPr id="8" name="Rounded Rectangle 7"/>
          <p:cNvSpPr/>
          <p:nvPr/>
        </p:nvSpPr>
        <p:spPr>
          <a:xfrm>
            <a:off x="8412480" y="3017520"/>
            <a:ext cx="3200400" cy="141732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59" y="3108960"/>
            <a:ext cx="2834640" cy="621792"/>
          </a:xfrm>
          <a:prstGeom prst="rect">
            <a:avLst/>
          </a:prstGeom>
          <a:noFill/>
        </p:spPr>
        <p:txBody>
          <a:bodyPr wrap="square" anchor="ctr" lIns="45720" rIns="45720">
            <a:spAutoFit/>
          </a:bodyPr>
          <a:lstStyle/>
          <a:p>
            <a:pPr algn="l">
              <a:spcAft>
                <a:spcPts val="600"/>
              </a:spcAft>
            </a:pPr>
            <a:r>
              <a:rPr sz="3200" b="1" i="0">
                <a:solidFill>
                  <a:srgbClr val="EB6834"/>
                </a:solidFill>
                <a:latin typeface="Cambria"/>
              </a:rPr>
              <a:t>−4.7%</a:t>
            </a:r>
          </a:p>
        </p:txBody>
      </p:sp>
      <p:sp>
        <p:nvSpPr>
          <p:cNvPr id="10" name="TextBox 9"/>
          <p:cNvSpPr txBox="1"/>
          <p:nvPr/>
        </p:nvSpPr>
        <p:spPr>
          <a:xfrm>
            <a:off x="8595359" y="3749039"/>
            <a:ext cx="2834640" cy="59436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units sold, 2025 vs 2024</a:t>
            </a:r>
          </a:p>
        </p:txBody>
      </p:sp>
      <p:sp>
        <p:nvSpPr>
          <p:cNvPr id="11" name="Rounded Rectangle 10"/>
          <p:cNvSpPr/>
          <p:nvPr/>
        </p:nvSpPr>
        <p:spPr>
          <a:xfrm>
            <a:off x="8412480" y="4572000"/>
            <a:ext cx="3200400" cy="141732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59" y="4663440"/>
            <a:ext cx="2834640" cy="621792"/>
          </a:xfrm>
          <a:prstGeom prst="rect">
            <a:avLst/>
          </a:prstGeom>
          <a:noFill/>
        </p:spPr>
        <p:txBody>
          <a:bodyPr wrap="square" anchor="ctr" lIns="45720" rIns="45720">
            <a:spAutoFit/>
          </a:bodyPr>
          <a:lstStyle/>
          <a:p>
            <a:pPr algn="l">
              <a:spcAft>
                <a:spcPts val="600"/>
              </a:spcAft>
            </a:pPr>
            <a:r>
              <a:rPr sz="3200" b="1" i="0">
                <a:solidFill>
                  <a:srgbClr val="12372A"/>
                </a:solidFill>
                <a:latin typeface="Cambria"/>
              </a:rPr>
              <a:t>Dec ×2</a:t>
            </a:r>
          </a:p>
        </p:txBody>
      </p:sp>
      <p:sp>
        <p:nvSpPr>
          <p:cNvPr id="13" name="TextBox 12"/>
          <p:cNvSpPr txBox="1"/>
          <p:nvPr/>
        </p:nvSpPr>
        <p:spPr>
          <a:xfrm>
            <a:off x="8595359" y="5303520"/>
            <a:ext cx="2834640" cy="59436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December revenue is about twice January's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Clothing earns 46% of profit on 27% of revenue</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7</a:t>
            </a:r>
          </a:p>
        </p:txBody>
      </p:sp>
      <p:graphicFrame>
        <p:nvGraphicFramePr>
          <p:cNvPr id="4" name="Chart 3"/>
          <p:cNvGraphicFramePr>
            <a:graphicFrameLocks noGrp="1"/>
          </p:cNvGraphicFramePr>
          <p:nvPr/>
        </p:nvGraphicFramePr>
        <p:xfrm>
          <a:off x="548640" y="1463040"/>
          <a:ext cx="7498079" cy="4572000"/>
        </p:xfrm>
        <a:graphic>
          <a:graphicData uri="http://schemas.openxmlformats.org/drawingml/2006/chart">
            <c:chart xmlns:c="http://schemas.openxmlformats.org/drawingml/2006/chart" r:id="rId3"/>
          </a:graphicData>
        </a:graphic>
      </p:graphicFrame>
      <p:sp>
        <p:nvSpPr>
          <p:cNvPr id="5" name="Rounded Rectangle 4"/>
          <p:cNvSpPr/>
          <p:nvPr/>
        </p:nvSpPr>
        <p:spPr>
          <a:xfrm>
            <a:off x="8412480" y="1463040"/>
            <a:ext cx="3200400" cy="457200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41080" y="1645920"/>
            <a:ext cx="2743200" cy="4297680"/>
          </a:xfrm>
          <a:prstGeom prst="rect">
            <a:avLst/>
          </a:prstGeom>
          <a:noFill/>
        </p:spPr>
        <p:txBody>
          <a:bodyPr wrap="square" anchor="t" lIns="45720" rIns="45720">
            <a:spAutoFit/>
          </a:bodyPr>
          <a:lstStyle/>
          <a:p>
            <a:pPr algn="l">
              <a:spcAft>
                <a:spcPts val="800"/>
              </a:spcAft>
            </a:pPr>
            <a:r>
              <a:rPr sz="1800" b="1" i="0">
                <a:solidFill>
                  <a:srgbClr val="12372A"/>
                </a:solidFill>
                <a:latin typeface="Calibri"/>
              </a:rPr>
              <a:t>Clothing</a:t>
            </a:r>
          </a:p>
          <a:p>
            <a:pPr algn="l">
              <a:spcAft>
                <a:spcPts val="800"/>
              </a:spcAft>
            </a:pPr>
            <a:r>
              <a:rPr sz="1500" b="0" i="0">
                <a:solidFill>
                  <a:srgbClr val="1B1B1B"/>
                </a:solidFill>
                <a:latin typeface="Calibri"/>
              </a:rPr>
              <a:t>42% margin. The top 5 profit products are all clothing; school uniforms lead (KES 60.9K profit).</a:t>
            </a:r>
          </a:p>
          <a:p>
            <a:pPr algn="l">
              <a:spcAft>
                <a:spcPts val="800"/>
              </a:spcAft>
            </a:pPr>
            <a:r>
              <a:rPr sz="1800" b="1" i="0">
                <a:solidFill>
                  <a:srgbClr val="12372A"/>
                </a:solidFill>
                <a:latin typeface="Calibri"/>
              </a:rPr>
              <a:t>Groceries</a:t>
            </a:r>
          </a:p>
          <a:p>
            <a:pPr algn="l">
              <a:spcAft>
                <a:spcPts val="800"/>
              </a:spcAft>
            </a:pPr>
            <a:r>
              <a:rPr sz="1500" b="0" i="0">
                <a:solidFill>
                  <a:srgbClr val="1B1B1B"/>
                </a:solidFill>
                <a:latin typeface="Calibri"/>
              </a:rPr>
              <a:t>25% of revenue, 12% of profit (11.7% margin). Traffic builders.</a:t>
            </a:r>
          </a:p>
          <a:p>
            <a:pPr algn="l">
              <a:spcAft>
                <a:spcPts val="800"/>
              </a:spcAft>
            </a:pPr>
            <a:r>
              <a:rPr sz="1800" b="1" i="0">
                <a:solidFill>
                  <a:srgbClr val="EB6834"/>
                </a:solidFill>
                <a:latin typeface="Calibri"/>
              </a:rPr>
              <a:t>Promotions</a:t>
            </a:r>
          </a:p>
          <a:p>
            <a:pPr algn="l">
              <a:spcAft>
                <a:spcPts val="800"/>
              </a:spcAft>
            </a:pPr>
            <a:r>
              <a:rPr sz="1500" b="0" i="0">
                <a:solidFill>
                  <a:srgbClr val="1B1B1B"/>
                </a:solidFill>
                <a:latin typeface="Calibri"/>
              </a:rPr>
              <a:t>10% off groceries and 20% off electronics left 1–3% margin.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A few customers carry the revenue, and many are drifting</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8</a:t>
            </a:r>
          </a:p>
        </p:txBody>
      </p:sp>
      <p:graphicFrame>
        <p:nvGraphicFramePr>
          <p:cNvPr id="4" name="Chart 3"/>
          <p:cNvGraphicFramePr>
            <a:graphicFrameLocks noGrp="1"/>
          </p:cNvGraphicFramePr>
          <p:nvPr/>
        </p:nvGraphicFramePr>
        <p:xfrm>
          <a:off x="548640" y="1463040"/>
          <a:ext cx="6766560" cy="4572000"/>
        </p:xfrm>
        <a:graphic>
          <a:graphicData uri="http://schemas.openxmlformats.org/drawingml/2006/chart">
            <c:chart xmlns:c="http://schemas.openxmlformats.org/drawingml/2006/chart" r:id="rId3"/>
          </a:graphicData>
        </a:graphic>
      </p:graphicFrame>
      <p:sp>
        <p:nvSpPr>
          <p:cNvPr id="5" name="Rounded Rectangle 4"/>
          <p:cNvSpPr/>
          <p:nvPr/>
        </p:nvSpPr>
        <p:spPr>
          <a:xfrm>
            <a:off x="7680960" y="1463040"/>
            <a:ext cx="3931920" cy="141732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0" y="1554480"/>
            <a:ext cx="3566160" cy="621792"/>
          </a:xfrm>
          <a:prstGeom prst="rect">
            <a:avLst/>
          </a:prstGeom>
          <a:noFill/>
        </p:spPr>
        <p:txBody>
          <a:bodyPr wrap="square" anchor="ctr" lIns="45720" rIns="45720">
            <a:spAutoFit/>
          </a:bodyPr>
          <a:lstStyle/>
          <a:p>
            <a:pPr algn="l">
              <a:spcAft>
                <a:spcPts val="600"/>
              </a:spcAft>
            </a:pPr>
            <a:r>
              <a:rPr sz="3200" b="1" i="0">
                <a:solidFill>
                  <a:srgbClr val="12372A"/>
                </a:solidFill>
                <a:latin typeface="Cambria"/>
              </a:rPr>
              <a:t>61%</a:t>
            </a:r>
          </a:p>
        </p:txBody>
      </p:sp>
      <p:sp>
        <p:nvSpPr>
          <p:cNvPr id="7" name="TextBox 6"/>
          <p:cNvSpPr txBox="1"/>
          <p:nvPr/>
        </p:nvSpPr>
        <p:spPr>
          <a:xfrm>
            <a:off x="7863840" y="2194560"/>
            <a:ext cx="3566160" cy="59436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of revenue comes from the top 20% of customers</a:t>
            </a:r>
          </a:p>
        </p:txBody>
      </p:sp>
      <p:sp>
        <p:nvSpPr>
          <p:cNvPr id="8" name="Rounded Rectangle 7"/>
          <p:cNvSpPr/>
          <p:nvPr/>
        </p:nvSpPr>
        <p:spPr>
          <a:xfrm>
            <a:off x="7680960" y="3017520"/>
            <a:ext cx="3931920" cy="141732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3108960"/>
            <a:ext cx="3566160" cy="621792"/>
          </a:xfrm>
          <a:prstGeom prst="rect">
            <a:avLst/>
          </a:prstGeom>
          <a:noFill/>
        </p:spPr>
        <p:txBody>
          <a:bodyPr wrap="square" anchor="ctr" lIns="45720" rIns="45720">
            <a:spAutoFit/>
          </a:bodyPr>
          <a:lstStyle/>
          <a:p>
            <a:pPr algn="l">
              <a:spcAft>
                <a:spcPts val="600"/>
              </a:spcAft>
            </a:pPr>
            <a:r>
              <a:rPr sz="3200" b="1" i="0">
                <a:solidFill>
                  <a:srgbClr val="EB6834"/>
                </a:solidFill>
                <a:latin typeface="Cambria"/>
              </a:rPr>
              <a:t>23.4%</a:t>
            </a:r>
          </a:p>
        </p:txBody>
      </p:sp>
      <p:sp>
        <p:nvSpPr>
          <p:cNvPr id="10" name="TextBox 9"/>
          <p:cNvSpPr txBox="1"/>
          <p:nvPr/>
        </p:nvSpPr>
        <p:spPr>
          <a:xfrm>
            <a:off x="7863840" y="3749039"/>
            <a:ext cx="3566160" cy="59436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of customers ever return for a second order</a:t>
            </a:r>
          </a:p>
        </p:txBody>
      </p:sp>
      <p:sp>
        <p:nvSpPr>
          <p:cNvPr id="11" name="Rounded Rectangle 10"/>
          <p:cNvSpPr/>
          <p:nvPr/>
        </p:nvSpPr>
        <p:spPr>
          <a:xfrm>
            <a:off x="7680960" y="4572000"/>
            <a:ext cx="3931920" cy="141732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0" y="4663440"/>
            <a:ext cx="3566160" cy="621792"/>
          </a:xfrm>
          <a:prstGeom prst="rect">
            <a:avLst/>
          </a:prstGeom>
          <a:noFill/>
        </p:spPr>
        <p:txBody>
          <a:bodyPr wrap="square" anchor="ctr" lIns="45720" rIns="45720">
            <a:spAutoFit/>
          </a:bodyPr>
          <a:lstStyle/>
          <a:p>
            <a:pPr algn="l">
              <a:spcAft>
                <a:spcPts val="600"/>
              </a:spcAft>
            </a:pPr>
            <a:r>
              <a:rPr sz="3200" b="1" i="0">
                <a:solidFill>
                  <a:srgbClr val="12372A"/>
                </a:solidFill>
                <a:latin typeface="Cambria"/>
              </a:rPr>
              <a:t>42% vs 15%</a:t>
            </a:r>
          </a:p>
        </p:txBody>
      </p:sp>
      <p:sp>
        <p:nvSpPr>
          <p:cNvPr id="13" name="TextBox 12"/>
          <p:cNvSpPr txBox="1"/>
          <p:nvPr/>
        </p:nvSpPr>
        <p:spPr>
          <a:xfrm>
            <a:off x="7863840" y="5303520"/>
            <a:ext cx="3566160" cy="59436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repeat rate, loyalty members vs non-members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Thika is the most efficient store but is shrinking</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9</a:t>
            </a:r>
          </a:p>
        </p:txBody>
      </p:sp>
      <p:graphicFrame>
        <p:nvGraphicFramePr>
          <p:cNvPr id="4" name="Table 3"/>
          <p:cNvGraphicFramePr>
            <a:graphicFrameLocks noGrp="1"/>
          </p:cNvGraphicFramePr>
          <p:nvPr/>
        </p:nvGraphicFramePr>
        <p:xfrm>
          <a:off x="548640" y="1554480"/>
          <a:ext cx="7589520" cy="3840480"/>
        </p:xfrm>
        <a:graphic>
          <a:graphicData uri="http://schemas.openxmlformats.org/drawingml/2006/table">
            <a:tbl>
              <a:tblPr firstRow="1" bandRow="1">
                <a:tableStyleId>{5C22544A-7EE6-4342-B048-85BDC9FD1C3A}</a:tableStyleId>
              </a:tblPr>
              <a:tblGrid>
                <a:gridCol w="1600200"/>
                <a:gridCol w="1417320"/>
                <a:gridCol w="914400"/>
                <a:gridCol w="1005840"/>
                <a:gridCol w="1234440"/>
                <a:gridCol w="1417320"/>
              </a:tblGrid>
              <a:tr h="548640">
                <a:tc>
                  <a:txBody>
                    <a:bodyPr/>
                    <a:lstStyle/>
                    <a:p>
                      <a:r>
                        <a:rPr sz="1500" b="1">
                          <a:solidFill>
                            <a:srgbClr val="FFFFFF"/>
                          </a:solidFill>
                          <a:latin typeface="Calibri"/>
                        </a:rPr>
                        <a:t>Store</a:t>
                      </a:r>
                    </a:p>
                  </a:txBody>
                  <a:tcPr marL="91440" marR="91440" anchor="ctr">
                    <a:solidFill>
                      <a:srgbClr val="12372A"/>
                    </a:solidFill>
                  </a:tcPr>
                </a:tc>
                <a:tc>
                  <a:txBody>
                    <a:bodyPr/>
                    <a:lstStyle/>
                    <a:p>
                      <a:pPr algn="r"/>
                      <a:r>
                        <a:rPr sz="1500" b="1">
                          <a:solidFill>
                            <a:srgbClr val="FFFFFF"/>
                          </a:solidFill>
                          <a:latin typeface="Calibri"/>
                        </a:rPr>
                        <a:t>Revenue (KES)</a:t>
                      </a:r>
                    </a:p>
                  </a:txBody>
                  <a:tcPr marL="91440" marR="91440" anchor="ctr">
                    <a:solidFill>
                      <a:srgbClr val="12372A"/>
                    </a:solidFill>
                  </a:tcPr>
                </a:tc>
                <a:tc>
                  <a:txBody>
                    <a:bodyPr/>
                    <a:lstStyle/>
                    <a:p>
                      <a:pPr algn="r"/>
                      <a:r>
                        <a:rPr sz="1500" b="1">
                          <a:solidFill>
                            <a:srgbClr val="FFFFFF"/>
                          </a:solidFill>
                          <a:latin typeface="Calibri"/>
                        </a:rPr>
                        <a:t>Margin</a:t>
                      </a:r>
                    </a:p>
                  </a:txBody>
                  <a:tcPr marL="91440" marR="91440" anchor="ctr">
                    <a:solidFill>
                      <a:srgbClr val="12372A"/>
                    </a:solidFill>
                  </a:tcPr>
                </a:tc>
                <a:tc>
                  <a:txBody>
                    <a:bodyPr/>
                    <a:lstStyle/>
                    <a:p>
                      <a:pPr algn="r"/>
                      <a:r>
                        <a:rPr sz="1500" b="1">
                          <a:solidFill>
                            <a:srgbClr val="FFFFFF"/>
                          </a:solidFill>
                          <a:latin typeface="Calibri"/>
                        </a:rPr>
                        <a:t>Avg order</a:t>
                      </a:r>
                    </a:p>
                  </a:txBody>
                  <a:tcPr marL="91440" marR="91440" anchor="ctr">
                    <a:solidFill>
                      <a:srgbClr val="12372A"/>
                    </a:solidFill>
                  </a:tcPr>
                </a:tc>
                <a:tc>
                  <a:txBody>
                    <a:bodyPr/>
                    <a:lstStyle/>
                    <a:p>
                      <a:pPr algn="r"/>
                      <a:r>
                        <a:rPr sz="1500" b="1">
                          <a:solidFill>
                            <a:srgbClr val="FFFFFF"/>
                          </a:solidFill>
                          <a:latin typeface="Calibri"/>
                        </a:rPr>
                        <a:t>2025 growth</a:t>
                      </a:r>
                    </a:p>
                  </a:txBody>
                  <a:tcPr marL="91440" marR="91440" anchor="ctr">
                    <a:solidFill>
                      <a:srgbClr val="12372A"/>
                    </a:solidFill>
                  </a:tcPr>
                </a:tc>
                <a:tc>
                  <a:txBody>
                    <a:bodyPr/>
                    <a:lstStyle/>
                    <a:p>
                      <a:pPr algn="r"/>
                      <a:r>
                        <a:rPr sz="1500" b="1">
                          <a:solidFill>
                            <a:srgbClr val="FFFFFF"/>
                          </a:solidFill>
                          <a:latin typeface="Calibri"/>
                        </a:rPr>
                        <a:t>Revenue / m²</a:t>
                      </a:r>
                    </a:p>
                  </a:txBody>
                  <a:tcPr marL="91440" marR="91440" anchor="ctr">
                    <a:solidFill>
                      <a:srgbClr val="12372A"/>
                    </a:solidFill>
                  </a:tcPr>
                </a:tc>
              </a:tr>
              <a:tr h="548640">
                <a:tc>
                  <a:txBody>
                    <a:bodyPr/>
                    <a:lstStyle/>
                    <a:p>
                      <a:r>
                        <a:rPr sz="1500" b="0">
                          <a:solidFill>
                            <a:srgbClr val="1B1B1B"/>
                          </a:solidFill>
                          <a:latin typeface="Calibri"/>
                        </a:rPr>
                        <a:t>Nairobi CBD</a:t>
                      </a:r>
                    </a:p>
                  </a:txBody>
                  <a:tcPr marL="91440" marR="91440" anchor="ctr">
                    <a:solidFill>
                      <a:srgbClr val="FFFFFF"/>
                    </a:solidFill>
                  </a:tcPr>
                </a:tc>
                <a:tc>
                  <a:txBody>
                    <a:bodyPr/>
                    <a:lstStyle/>
                    <a:p>
                      <a:pPr algn="r"/>
                      <a:r>
                        <a:rPr sz="1500" b="0">
                          <a:solidFill>
                            <a:srgbClr val="1B1B1B"/>
                          </a:solidFill>
                          <a:latin typeface="Calibri"/>
                        </a:rPr>
                        <a:t>525,975</a:t>
                      </a:r>
                    </a:p>
                  </a:txBody>
                  <a:tcPr marL="91440" marR="91440" anchor="ctr">
                    <a:solidFill>
                      <a:srgbClr val="FFFFFF"/>
                    </a:solidFill>
                  </a:tcPr>
                </a:tc>
                <a:tc>
                  <a:txBody>
                    <a:bodyPr/>
                    <a:lstStyle/>
                    <a:p>
                      <a:pPr algn="r"/>
                      <a:r>
                        <a:rPr sz="1500" b="0">
                          <a:solidFill>
                            <a:srgbClr val="1B1B1B"/>
                          </a:solidFill>
                          <a:latin typeface="Calibri"/>
                        </a:rPr>
                        <a:t>24.3%</a:t>
                      </a:r>
                    </a:p>
                  </a:txBody>
                  <a:tcPr marL="91440" marR="91440" anchor="ctr">
                    <a:solidFill>
                      <a:srgbClr val="FFFFFF"/>
                    </a:solidFill>
                  </a:tcPr>
                </a:tc>
                <a:tc>
                  <a:txBody>
                    <a:bodyPr/>
                    <a:lstStyle/>
                    <a:p>
                      <a:pPr algn="r"/>
                      <a:r>
                        <a:rPr sz="1500" b="0">
                          <a:solidFill>
                            <a:srgbClr val="1B1B1B"/>
                          </a:solidFill>
                          <a:latin typeface="Calibri"/>
                        </a:rPr>
                        <a:t>818</a:t>
                      </a:r>
                    </a:p>
                  </a:txBody>
                  <a:tcPr marL="91440" marR="91440" anchor="ctr">
                    <a:solidFill>
                      <a:srgbClr val="FFFFFF"/>
                    </a:solidFill>
                  </a:tcPr>
                </a:tc>
                <a:tc>
                  <a:txBody>
                    <a:bodyPr/>
                    <a:lstStyle/>
                    <a:p>
                      <a:pPr algn="r"/>
                      <a:r>
                        <a:rPr sz="1500" b="0">
                          <a:solidFill>
                            <a:srgbClr val="1E8449"/>
                          </a:solidFill>
                          <a:latin typeface="Calibri"/>
                        </a:rPr>
                        <a:t>+16.9%</a:t>
                      </a:r>
                    </a:p>
                  </a:txBody>
                  <a:tcPr marL="91440" marR="91440" anchor="ctr">
                    <a:solidFill>
                      <a:srgbClr val="FFFFFF"/>
                    </a:solidFill>
                  </a:tcPr>
                </a:tc>
                <a:tc>
                  <a:txBody>
                    <a:bodyPr/>
                    <a:lstStyle/>
                    <a:p>
                      <a:pPr algn="r"/>
                      <a:r>
                        <a:rPr sz="1500" b="0">
                          <a:solidFill>
                            <a:srgbClr val="1B1B1B"/>
                          </a:solidFill>
                          <a:latin typeface="Calibri"/>
                        </a:rPr>
                        <a:t>219</a:t>
                      </a:r>
                    </a:p>
                  </a:txBody>
                  <a:tcPr marL="91440" marR="91440" anchor="ctr">
                    <a:solidFill>
                      <a:srgbClr val="FFFFFF"/>
                    </a:solidFill>
                  </a:tcPr>
                </a:tc>
              </a:tr>
              <a:tr h="548640">
                <a:tc>
                  <a:txBody>
                    <a:bodyPr/>
                    <a:lstStyle/>
                    <a:p>
                      <a:r>
                        <a:rPr sz="1500" b="0">
                          <a:solidFill>
                            <a:srgbClr val="1B1B1B"/>
                          </a:solidFill>
                          <a:latin typeface="Calibri"/>
                        </a:rPr>
                        <a:t>Westlands</a:t>
                      </a:r>
                    </a:p>
                  </a:txBody>
                  <a:tcPr marL="91440" marR="91440" anchor="ctr">
                    <a:solidFill>
                      <a:srgbClr val="EDF3EF"/>
                    </a:solidFill>
                  </a:tcPr>
                </a:tc>
                <a:tc>
                  <a:txBody>
                    <a:bodyPr/>
                    <a:lstStyle/>
                    <a:p>
                      <a:pPr algn="r"/>
                      <a:r>
                        <a:rPr sz="1500" b="0">
                          <a:solidFill>
                            <a:srgbClr val="1B1B1B"/>
                          </a:solidFill>
                          <a:latin typeface="Calibri"/>
                        </a:rPr>
                        <a:t>433,184</a:t>
                      </a:r>
                    </a:p>
                  </a:txBody>
                  <a:tcPr marL="91440" marR="91440" anchor="ctr">
                    <a:solidFill>
                      <a:srgbClr val="EDF3EF"/>
                    </a:solidFill>
                  </a:tcPr>
                </a:tc>
                <a:tc>
                  <a:txBody>
                    <a:bodyPr/>
                    <a:lstStyle/>
                    <a:p>
                      <a:pPr algn="r"/>
                      <a:r>
                        <a:rPr sz="1500" b="0">
                          <a:solidFill>
                            <a:srgbClr val="1B1B1B"/>
                          </a:solidFill>
                          <a:latin typeface="Calibri"/>
                        </a:rPr>
                        <a:t>26.0%</a:t>
                      </a:r>
                    </a:p>
                  </a:txBody>
                  <a:tcPr marL="91440" marR="91440" anchor="ctr">
                    <a:solidFill>
                      <a:srgbClr val="EDF3EF"/>
                    </a:solidFill>
                  </a:tcPr>
                </a:tc>
                <a:tc>
                  <a:txBody>
                    <a:bodyPr/>
                    <a:lstStyle/>
                    <a:p>
                      <a:pPr algn="r"/>
                      <a:r>
                        <a:rPr sz="1500" b="0">
                          <a:solidFill>
                            <a:srgbClr val="1B1B1B"/>
                          </a:solidFill>
                          <a:latin typeface="Calibri"/>
                        </a:rPr>
                        <a:t>899</a:t>
                      </a:r>
                    </a:p>
                  </a:txBody>
                  <a:tcPr marL="91440" marR="91440" anchor="ctr">
                    <a:solidFill>
                      <a:srgbClr val="EDF3EF"/>
                    </a:solidFill>
                  </a:tcPr>
                </a:tc>
                <a:tc>
                  <a:txBody>
                    <a:bodyPr/>
                    <a:lstStyle/>
                    <a:p>
                      <a:pPr algn="r"/>
                      <a:r>
                        <a:rPr sz="1500" b="0">
                          <a:solidFill>
                            <a:srgbClr val="1E8449"/>
                          </a:solidFill>
                          <a:latin typeface="Calibri"/>
                        </a:rPr>
                        <a:t>+8.7%</a:t>
                      </a:r>
                    </a:p>
                  </a:txBody>
                  <a:tcPr marL="91440" marR="91440" anchor="ctr">
                    <a:solidFill>
                      <a:srgbClr val="EDF3EF"/>
                    </a:solidFill>
                  </a:tcPr>
                </a:tc>
                <a:tc>
                  <a:txBody>
                    <a:bodyPr/>
                    <a:lstStyle/>
                    <a:p>
                      <a:pPr algn="r"/>
                      <a:r>
                        <a:rPr sz="1500" b="0">
                          <a:solidFill>
                            <a:srgbClr val="1B1B1B"/>
                          </a:solidFill>
                          <a:latin typeface="Calibri"/>
                        </a:rPr>
                        <a:t>206</a:t>
                      </a:r>
                    </a:p>
                  </a:txBody>
                  <a:tcPr marL="91440" marR="91440" anchor="ctr">
                    <a:solidFill>
                      <a:srgbClr val="EDF3EF"/>
                    </a:solidFill>
                  </a:tcPr>
                </a:tc>
              </a:tr>
              <a:tr h="548640">
                <a:tc>
                  <a:txBody>
                    <a:bodyPr/>
                    <a:lstStyle/>
                    <a:p>
                      <a:r>
                        <a:rPr sz="1500" b="0">
                          <a:solidFill>
                            <a:srgbClr val="1B1B1B"/>
                          </a:solidFill>
                          <a:latin typeface="Calibri"/>
                        </a:rPr>
                        <a:t>Nakuru Town</a:t>
                      </a:r>
                    </a:p>
                  </a:txBody>
                  <a:tcPr marL="91440" marR="91440" anchor="ctr">
                    <a:solidFill>
                      <a:srgbClr val="FFFFFF"/>
                    </a:solidFill>
                  </a:tcPr>
                </a:tc>
                <a:tc>
                  <a:txBody>
                    <a:bodyPr/>
                    <a:lstStyle/>
                    <a:p>
                      <a:pPr algn="r"/>
                      <a:r>
                        <a:rPr sz="1500" b="0">
                          <a:solidFill>
                            <a:srgbClr val="1B1B1B"/>
                          </a:solidFill>
                          <a:latin typeface="Calibri"/>
                        </a:rPr>
                        <a:t>335,755</a:t>
                      </a:r>
                    </a:p>
                  </a:txBody>
                  <a:tcPr marL="91440" marR="91440" anchor="ctr">
                    <a:solidFill>
                      <a:srgbClr val="FFFFFF"/>
                    </a:solidFill>
                  </a:tcPr>
                </a:tc>
                <a:tc>
                  <a:txBody>
                    <a:bodyPr/>
                    <a:lstStyle/>
                    <a:p>
                      <a:pPr algn="r"/>
                      <a:r>
                        <a:rPr sz="1500" b="0">
                          <a:solidFill>
                            <a:srgbClr val="1B1B1B"/>
                          </a:solidFill>
                          <a:latin typeface="Calibri"/>
                        </a:rPr>
                        <a:t>25.5%</a:t>
                      </a:r>
                    </a:p>
                  </a:txBody>
                  <a:tcPr marL="91440" marR="91440" anchor="ctr">
                    <a:solidFill>
                      <a:srgbClr val="FFFFFF"/>
                    </a:solidFill>
                  </a:tcPr>
                </a:tc>
                <a:tc>
                  <a:txBody>
                    <a:bodyPr/>
                    <a:lstStyle/>
                    <a:p>
                      <a:pPr algn="r"/>
                      <a:r>
                        <a:rPr sz="1500" b="0">
                          <a:solidFill>
                            <a:srgbClr val="1B1B1B"/>
                          </a:solidFill>
                          <a:latin typeface="Calibri"/>
                        </a:rPr>
                        <a:t>905</a:t>
                      </a:r>
                    </a:p>
                  </a:txBody>
                  <a:tcPr marL="91440" marR="91440" anchor="ctr">
                    <a:solidFill>
                      <a:srgbClr val="FFFFFF"/>
                    </a:solidFill>
                  </a:tcPr>
                </a:tc>
                <a:tc>
                  <a:txBody>
                    <a:bodyPr/>
                    <a:lstStyle/>
                    <a:p>
                      <a:pPr algn="r"/>
                      <a:r>
                        <a:rPr sz="1500" b="0">
                          <a:solidFill>
                            <a:srgbClr val="C0392B"/>
                          </a:solidFill>
                          <a:latin typeface="Calibri"/>
                        </a:rPr>
                        <a:t>−8.6%</a:t>
                      </a:r>
                    </a:p>
                  </a:txBody>
                  <a:tcPr marL="91440" marR="91440" anchor="ctr">
                    <a:solidFill>
                      <a:srgbClr val="FFFFFF"/>
                    </a:solidFill>
                  </a:tcPr>
                </a:tc>
                <a:tc>
                  <a:txBody>
                    <a:bodyPr/>
                    <a:lstStyle/>
                    <a:p>
                      <a:pPr algn="r"/>
                      <a:r>
                        <a:rPr sz="1500" b="0">
                          <a:solidFill>
                            <a:srgbClr val="1B1B1B"/>
                          </a:solidFill>
                          <a:latin typeface="Calibri"/>
                        </a:rPr>
                        <a:t>240</a:t>
                      </a:r>
                    </a:p>
                  </a:txBody>
                  <a:tcPr marL="91440" marR="91440" anchor="ctr">
                    <a:solidFill>
                      <a:srgbClr val="FFFFFF"/>
                    </a:solidFill>
                  </a:tcPr>
                </a:tc>
              </a:tr>
              <a:tr h="548640">
                <a:tc>
                  <a:txBody>
                    <a:bodyPr/>
                    <a:lstStyle/>
                    <a:p>
                      <a:r>
                        <a:rPr sz="1500" b="0">
                          <a:solidFill>
                            <a:srgbClr val="1B1B1B"/>
                          </a:solidFill>
                          <a:latin typeface="Calibri"/>
                        </a:rPr>
                        <a:t>Kisumu Town</a:t>
                      </a:r>
                    </a:p>
                  </a:txBody>
                  <a:tcPr marL="91440" marR="91440" anchor="ctr">
                    <a:solidFill>
                      <a:srgbClr val="EDF3EF"/>
                    </a:solidFill>
                  </a:tcPr>
                </a:tc>
                <a:tc>
                  <a:txBody>
                    <a:bodyPr/>
                    <a:lstStyle/>
                    <a:p>
                      <a:pPr algn="r"/>
                      <a:r>
                        <a:rPr sz="1500" b="0">
                          <a:solidFill>
                            <a:srgbClr val="1B1B1B"/>
                          </a:solidFill>
                          <a:latin typeface="Calibri"/>
                        </a:rPr>
                        <a:t>317,705</a:t>
                      </a:r>
                    </a:p>
                  </a:txBody>
                  <a:tcPr marL="91440" marR="91440" anchor="ctr">
                    <a:solidFill>
                      <a:srgbClr val="EDF3EF"/>
                    </a:solidFill>
                  </a:tcPr>
                </a:tc>
                <a:tc>
                  <a:txBody>
                    <a:bodyPr/>
                    <a:lstStyle/>
                    <a:p>
                      <a:pPr algn="r"/>
                      <a:r>
                        <a:rPr sz="1500" b="0">
                          <a:solidFill>
                            <a:srgbClr val="1B1B1B"/>
                          </a:solidFill>
                          <a:latin typeface="Calibri"/>
                        </a:rPr>
                        <a:t>22.5%</a:t>
                      </a:r>
                    </a:p>
                  </a:txBody>
                  <a:tcPr marL="91440" marR="91440" anchor="ctr">
                    <a:solidFill>
                      <a:srgbClr val="EDF3EF"/>
                    </a:solidFill>
                  </a:tcPr>
                </a:tc>
                <a:tc>
                  <a:txBody>
                    <a:bodyPr/>
                    <a:lstStyle/>
                    <a:p>
                      <a:pPr algn="r"/>
                      <a:r>
                        <a:rPr sz="1500" b="0">
                          <a:solidFill>
                            <a:srgbClr val="1B1B1B"/>
                          </a:solidFill>
                          <a:latin typeface="Calibri"/>
                        </a:rPr>
                        <a:t>892</a:t>
                      </a:r>
                    </a:p>
                  </a:txBody>
                  <a:tcPr marL="91440" marR="91440" anchor="ctr">
                    <a:solidFill>
                      <a:srgbClr val="EDF3EF"/>
                    </a:solidFill>
                  </a:tcPr>
                </a:tc>
                <a:tc>
                  <a:txBody>
                    <a:bodyPr/>
                    <a:lstStyle/>
                    <a:p>
                      <a:pPr algn="r"/>
                      <a:r>
                        <a:rPr sz="1500" b="0">
                          <a:solidFill>
                            <a:srgbClr val="1E8449"/>
                          </a:solidFill>
                          <a:latin typeface="Calibri"/>
                        </a:rPr>
                        <a:t>+38.2%</a:t>
                      </a:r>
                    </a:p>
                  </a:txBody>
                  <a:tcPr marL="91440" marR="91440" anchor="ctr">
                    <a:solidFill>
                      <a:srgbClr val="EDF3EF"/>
                    </a:solidFill>
                  </a:tcPr>
                </a:tc>
                <a:tc>
                  <a:txBody>
                    <a:bodyPr/>
                    <a:lstStyle/>
                    <a:p>
                      <a:pPr algn="r"/>
                      <a:r>
                        <a:rPr sz="1500" b="0">
                          <a:solidFill>
                            <a:srgbClr val="1B1B1B"/>
                          </a:solidFill>
                          <a:latin typeface="Calibri"/>
                        </a:rPr>
                        <a:t>244</a:t>
                      </a:r>
                    </a:p>
                  </a:txBody>
                  <a:tcPr marL="91440" marR="91440" anchor="ctr">
                    <a:solidFill>
                      <a:srgbClr val="EDF3EF"/>
                    </a:solidFill>
                  </a:tcPr>
                </a:tc>
              </a:tr>
              <a:tr h="548640">
                <a:tc>
                  <a:txBody>
                    <a:bodyPr/>
                    <a:lstStyle/>
                    <a:p>
                      <a:r>
                        <a:rPr sz="1500" b="0">
                          <a:solidFill>
                            <a:srgbClr val="1B1B1B"/>
                          </a:solidFill>
                          <a:latin typeface="Calibri"/>
                        </a:rPr>
                        <a:t>Mombasa Town</a:t>
                      </a:r>
                    </a:p>
                  </a:txBody>
                  <a:tcPr marL="91440" marR="91440" anchor="ctr">
                    <a:solidFill>
                      <a:srgbClr val="FFFFFF"/>
                    </a:solidFill>
                  </a:tcPr>
                </a:tc>
                <a:tc>
                  <a:txBody>
                    <a:bodyPr/>
                    <a:lstStyle/>
                    <a:p>
                      <a:pPr algn="r"/>
                      <a:r>
                        <a:rPr sz="1500" b="0">
                          <a:solidFill>
                            <a:srgbClr val="1B1B1B"/>
                          </a:solidFill>
                          <a:latin typeface="Calibri"/>
                        </a:rPr>
                        <a:t>309,861</a:t>
                      </a:r>
                    </a:p>
                  </a:txBody>
                  <a:tcPr marL="91440" marR="91440" anchor="ctr">
                    <a:solidFill>
                      <a:srgbClr val="FFFFFF"/>
                    </a:solidFill>
                  </a:tcPr>
                </a:tc>
                <a:tc>
                  <a:txBody>
                    <a:bodyPr/>
                    <a:lstStyle/>
                    <a:p>
                      <a:pPr algn="r"/>
                      <a:r>
                        <a:rPr sz="1500" b="0">
                          <a:solidFill>
                            <a:srgbClr val="1B1B1B"/>
                          </a:solidFill>
                          <a:latin typeface="Calibri"/>
                        </a:rPr>
                        <a:t>25.5%</a:t>
                      </a:r>
                    </a:p>
                  </a:txBody>
                  <a:tcPr marL="91440" marR="91440" anchor="ctr">
                    <a:solidFill>
                      <a:srgbClr val="FFFFFF"/>
                    </a:solidFill>
                  </a:tcPr>
                </a:tc>
                <a:tc>
                  <a:txBody>
                    <a:bodyPr/>
                    <a:lstStyle/>
                    <a:p>
                      <a:pPr algn="r"/>
                      <a:r>
                        <a:rPr sz="1500" b="0">
                          <a:solidFill>
                            <a:srgbClr val="1B1B1B"/>
                          </a:solidFill>
                          <a:latin typeface="Calibri"/>
                        </a:rPr>
                        <a:t>677</a:t>
                      </a:r>
                    </a:p>
                  </a:txBody>
                  <a:tcPr marL="91440" marR="91440" anchor="ctr">
                    <a:solidFill>
                      <a:srgbClr val="FFFFFF"/>
                    </a:solidFill>
                  </a:tcPr>
                </a:tc>
                <a:tc>
                  <a:txBody>
                    <a:bodyPr/>
                    <a:lstStyle/>
                    <a:p>
                      <a:pPr algn="r"/>
                      <a:r>
                        <a:rPr sz="1500" b="0">
                          <a:solidFill>
                            <a:srgbClr val="1E8449"/>
                          </a:solidFill>
                          <a:latin typeface="Calibri"/>
                        </a:rPr>
                        <a:t>+11.5%</a:t>
                      </a:r>
                    </a:p>
                  </a:txBody>
                  <a:tcPr marL="91440" marR="91440" anchor="ctr">
                    <a:solidFill>
                      <a:srgbClr val="FFFFFF"/>
                    </a:solidFill>
                  </a:tcPr>
                </a:tc>
                <a:tc>
                  <a:txBody>
                    <a:bodyPr/>
                    <a:lstStyle/>
                    <a:p>
                      <a:pPr algn="r"/>
                      <a:r>
                        <a:rPr sz="1500" b="0">
                          <a:solidFill>
                            <a:srgbClr val="1B1B1B"/>
                          </a:solidFill>
                          <a:latin typeface="Calibri"/>
                        </a:rPr>
                        <a:t>194</a:t>
                      </a:r>
                    </a:p>
                  </a:txBody>
                  <a:tcPr marL="91440" marR="91440" anchor="ctr">
                    <a:solidFill>
                      <a:srgbClr val="FFFFFF"/>
                    </a:solidFill>
                  </a:tcPr>
                </a:tc>
              </a:tr>
              <a:tr h="548640">
                <a:tc>
                  <a:txBody>
                    <a:bodyPr/>
                    <a:lstStyle/>
                    <a:p>
                      <a:r>
                        <a:rPr sz="1500" b="0">
                          <a:solidFill>
                            <a:srgbClr val="1B1B1B"/>
                          </a:solidFill>
                          <a:latin typeface="Calibri"/>
                        </a:rPr>
                        <a:t>Thika</a:t>
                      </a:r>
                    </a:p>
                  </a:txBody>
                  <a:tcPr marL="91440" marR="91440" anchor="ctr">
                    <a:solidFill>
                      <a:srgbClr val="FCE9E1"/>
                    </a:solidFill>
                  </a:tcPr>
                </a:tc>
                <a:tc>
                  <a:txBody>
                    <a:bodyPr/>
                    <a:lstStyle/>
                    <a:p>
                      <a:pPr algn="r"/>
                      <a:r>
                        <a:rPr sz="1500" b="0">
                          <a:solidFill>
                            <a:srgbClr val="1B1B1B"/>
                          </a:solidFill>
                          <a:latin typeface="Calibri"/>
                        </a:rPr>
                        <a:t>256,735</a:t>
                      </a:r>
                    </a:p>
                  </a:txBody>
                  <a:tcPr marL="91440" marR="91440" anchor="ctr">
                    <a:solidFill>
                      <a:srgbClr val="FCE9E1"/>
                    </a:solidFill>
                  </a:tcPr>
                </a:tc>
                <a:tc>
                  <a:txBody>
                    <a:bodyPr/>
                    <a:lstStyle/>
                    <a:p>
                      <a:pPr algn="r"/>
                      <a:r>
                        <a:rPr sz="1500" b="0">
                          <a:solidFill>
                            <a:srgbClr val="1B1B1B"/>
                          </a:solidFill>
                          <a:latin typeface="Calibri"/>
                        </a:rPr>
                        <a:t>24.2%</a:t>
                      </a:r>
                    </a:p>
                  </a:txBody>
                  <a:tcPr marL="91440" marR="91440" anchor="ctr">
                    <a:solidFill>
                      <a:srgbClr val="FCE9E1"/>
                    </a:solidFill>
                  </a:tcPr>
                </a:tc>
                <a:tc>
                  <a:txBody>
                    <a:bodyPr/>
                    <a:lstStyle/>
                    <a:p>
                      <a:pPr algn="r"/>
                      <a:r>
                        <a:rPr sz="1500" b="0">
                          <a:solidFill>
                            <a:srgbClr val="1B1B1B"/>
                          </a:solidFill>
                          <a:latin typeface="Calibri"/>
                        </a:rPr>
                        <a:t>755</a:t>
                      </a:r>
                    </a:p>
                  </a:txBody>
                  <a:tcPr marL="91440" marR="91440" anchor="ctr">
                    <a:solidFill>
                      <a:srgbClr val="FCE9E1"/>
                    </a:solidFill>
                  </a:tcPr>
                </a:tc>
                <a:tc>
                  <a:txBody>
                    <a:bodyPr/>
                    <a:lstStyle/>
                    <a:p>
                      <a:pPr algn="r"/>
                      <a:r>
                        <a:rPr sz="1500" b="0">
                          <a:solidFill>
                            <a:srgbClr val="C0392B"/>
                          </a:solidFill>
                          <a:latin typeface="Calibri"/>
                        </a:rPr>
                        <a:t>−14.2%</a:t>
                      </a:r>
                    </a:p>
                  </a:txBody>
                  <a:tcPr marL="91440" marR="91440" anchor="ctr">
                    <a:solidFill>
                      <a:srgbClr val="FCE9E1"/>
                    </a:solidFill>
                  </a:tcPr>
                </a:tc>
                <a:tc>
                  <a:txBody>
                    <a:bodyPr/>
                    <a:lstStyle/>
                    <a:p>
                      <a:pPr algn="r"/>
                      <a:r>
                        <a:rPr sz="1500" b="1">
                          <a:solidFill>
                            <a:srgbClr val="1B1B1B"/>
                          </a:solidFill>
                          <a:latin typeface="Calibri"/>
                        </a:rPr>
                        <a:t>285</a:t>
                      </a:r>
                    </a:p>
                  </a:txBody>
                  <a:tcPr marL="91440" marR="91440" anchor="ctr">
                    <a:solidFill>
                      <a:srgbClr val="FCE9E1"/>
                    </a:solidFill>
                  </a:tcPr>
                </a:tc>
              </a:tr>
            </a:tbl>
          </a:graphicData>
        </a:graphic>
      </p:graphicFrame>
      <p:sp>
        <p:nvSpPr>
          <p:cNvPr id="5" name="TextBox 4"/>
          <p:cNvSpPr txBox="1"/>
          <p:nvPr/>
        </p:nvSpPr>
        <p:spPr>
          <a:xfrm>
            <a:off x="548640" y="5577840"/>
            <a:ext cx="7589520" cy="548640"/>
          </a:xfrm>
          <a:prstGeom prst="rect">
            <a:avLst/>
          </a:prstGeom>
          <a:noFill/>
        </p:spPr>
        <p:txBody>
          <a:bodyPr wrap="square" anchor="t" lIns="45720" rIns="45720">
            <a:spAutoFit/>
          </a:bodyPr>
          <a:lstStyle/>
          <a:p>
            <a:pPr algn="l">
              <a:spcAft>
                <a:spcPts val="600"/>
              </a:spcAft>
            </a:pPr>
            <a:r>
              <a:rPr sz="1200" b="0" i="0">
                <a:solidFill>
                  <a:srgbClr val="5F6B66"/>
                </a:solidFill>
                <a:latin typeface="Calibri"/>
              </a:rPr>
              <a:t>Growth is red when negative and green when positive.</a:t>
            </a:r>
          </a:p>
        </p:txBody>
      </p:sp>
      <p:sp>
        <p:nvSpPr>
          <p:cNvPr id="6" name="Rounded Rectangle 5"/>
          <p:cNvSpPr/>
          <p:nvPr/>
        </p:nvSpPr>
        <p:spPr>
          <a:xfrm>
            <a:off x="8503920" y="1554480"/>
            <a:ext cx="3108960" cy="448056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32520" y="1737360"/>
            <a:ext cx="2651760" cy="4206240"/>
          </a:xfrm>
          <a:prstGeom prst="rect">
            <a:avLst/>
          </a:prstGeom>
          <a:noFill/>
        </p:spPr>
        <p:txBody>
          <a:bodyPr wrap="square" anchor="t" lIns="45720" rIns="45720">
            <a:spAutoFit/>
          </a:bodyPr>
          <a:lstStyle/>
          <a:p>
            <a:pPr algn="l">
              <a:spcAft>
                <a:spcPts val="400"/>
              </a:spcAft>
            </a:pPr>
            <a:r>
              <a:rPr sz="2600" b="1" i="0">
                <a:solidFill>
                  <a:srgbClr val="12372A"/>
                </a:solidFill>
                <a:latin typeface="Cambria"/>
              </a:rPr>
              <a:t>44%</a:t>
            </a:r>
          </a:p>
          <a:p>
            <a:pPr algn="l">
              <a:spcAft>
                <a:spcPts val="400"/>
              </a:spcAft>
            </a:pPr>
            <a:r>
              <a:rPr sz="1500" b="0" i="0">
                <a:solidFill>
                  <a:srgbClr val="1B1B1B"/>
                </a:solidFill>
                <a:latin typeface="Calibri"/>
              </a:rPr>
              <a:t>of revenue from Nairobi CBD and Westlands.</a:t>
            </a:r>
          </a:p>
          <a:p>
            <a:pPr algn="l">
              <a:spcAft>
                <a:spcPts val="400"/>
              </a:spcAft>
            </a:pPr>
            <a:r>
              <a:rPr sz="2600" b="1" i="0">
                <a:solidFill>
                  <a:srgbClr val="EB6834"/>
                </a:solidFill>
                <a:latin typeface="Cambria"/>
              </a:rPr>
              <a:t>−19%</a:t>
            </a:r>
          </a:p>
          <a:p>
            <a:pPr algn="l">
              <a:spcAft>
                <a:spcPts val="400"/>
              </a:spcAft>
            </a:pPr>
            <a:r>
              <a:rPr sz="1500" b="0" i="0">
                <a:solidFill>
                  <a:srgbClr val="1B1B1B"/>
                </a:solidFill>
                <a:latin typeface="Calibri"/>
              </a:rPr>
              <a:t>Thika's change excluding electronics, despite the best revenue per m².</a:t>
            </a:r>
          </a:p>
          <a:p>
            <a:pPr algn="l">
              <a:spcAft>
                <a:spcPts val="400"/>
              </a:spcAft>
            </a:pPr>
            <a:r>
              <a:rPr sz="2600" b="1" i="0">
                <a:solidFill>
                  <a:srgbClr val="12372A"/>
                </a:solidFill>
                <a:latin typeface="Cambria"/>
              </a:rPr>
              <a:t>KES 677</a:t>
            </a:r>
          </a:p>
          <a:p>
            <a:pPr algn="l">
              <a:spcAft>
                <a:spcPts val="400"/>
              </a:spcAft>
            </a:pPr>
            <a:r>
              <a:rPr sz="1500" b="0" i="0">
                <a:solidFill>
                  <a:srgbClr val="1B1B1B"/>
                </a:solidFill>
                <a:latin typeface="Calibri"/>
              </a:rPr>
              <a:t>Mombasa's average basket, vs 822 chain-wide.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A normalized PostgreSQL database reconciles to the cent</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10</a:t>
            </a:r>
          </a:p>
        </p:txBody>
      </p:sp>
      <p:pic>
        <p:nvPicPr>
          <p:cNvPr id="4" name="ER diagram" descr="02_er_diagram.png"/>
          <p:cNvPicPr>
            <a:picLocks noChangeAspect="1"/>
          </p:cNvPicPr>
          <p:nvPr/>
        </p:nvPicPr>
        <p:blipFill>
          <a:blip r:embed="rId3"/>
          <a:stretch>
            <a:fillRect/>
          </a:stretch>
        </p:blipFill>
        <p:spPr>
          <a:xfrm>
            <a:off x="548640" y="1463040"/>
            <a:ext cx="6583680" cy="2765046"/>
          </a:xfrm>
          <a:prstGeom prst="rect">
            <a:avLst/>
          </a:prstGeom>
        </p:spPr>
      </p:pic>
      <p:sp>
        <p:nvSpPr>
          <p:cNvPr id="5" name="TextBox 4"/>
          <p:cNvSpPr txBox="1"/>
          <p:nvPr/>
        </p:nvSpPr>
        <p:spPr>
          <a:xfrm>
            <a:off x="548640" y="4273806"/>
            <a:ext cx="6583680" cy="320040"/>
          </a:xfrm>
          <a:prstGeom prst="rect">
            <a:avLst/>
          </a:prstGeom>
          <a:noFill/>
        </p:spPr>
        <p:txBody>
          <a:bodyPr wrap="square" anchor="t" lIns="45720" rIns="45720">
            <a:spAutoFit/>
          </a:bodyPr>
          <a:lstStyle/>
          <a:p>
            <a:pPr algn="l">
              <a:spcAft>
                <a:spcPts val="600"/>
              </a:spcAft>
            </a:pPr>
            <a:r>
              <a:rPr sz="1100" b="0" i="0">
                <a:solidFill>
                  <a:srgbClr val="5F6B66"/>
                </a:solidFill>
                <a:latin typeface="Calibri"/>
              </a:rPr>
              <a:t>DBeaver ER diagram of the retail schema</a:t>
            </a:r>
          </a:p>
        </p:txBody>
      </p:sp>
      <p:sp>
        <p:nvSpPr>
          <p:cNvPr id="6" name="Rounded Rectangle 5"/>
          <p:cNvSpPr/>
          <p:nvPr/>
        </p:nvSpPr>
        <p:spPr>
          <a:xfrm>
            <a:off x="7498079" y="1463040"/>
            <a:ext cx="4114800" cy="297180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79" y="1600200"/>
            <a:ext cx="3657600" cy="2743200"/>
          </a:xfrm>
          <a:prstGeom prst="rect">
            <a:avLst/>
          </a:prstGeom>
          <a:noFill/>
        </p:spPr>
        <p:txBody>
          <a:bodyPr wrap="square" anchor="t" lIns="45720" rIns="45720">
            <a:spAutoFit/>
          </a:bodyPr>
          <a:lstStyle/>
          <a:p>
            <a:pPr algn="l">
              <a:spcAft>
                <a:spcPts val="400"/>
              </a:spcAft>
            </a:pPr>
            <a:r>
              <a:rPr sz="1800" b="1" i="0">
                <a:solidFill>
                  <a:srgbClr val="12372A"/>
                </a:solidFill>
                <a:latin typeface="Calibri"/>
              </a:rPr>
              <a:t>Design</a:t>
            </a:r>
          </a:p>
          <a:p>
            <a:pPr algn="l" marL="228600" indent="-182880">
              <a:spcAft>
                <a:spcPts val="400"/>
              </a:spcAft>
              <a:buChar char="•"/>
            </a:pPr>
            <a:r>
              <a:rPr sz="1500" b="0" i="0">
                <a:solidFill>
                  <a:srgbClr val="1B1B1B"/>
                </a:solidFill>
                <a:latin typeface="Calibri"/>
              </a:rPr>
              <a:t>7 tables in 3NF: 2,650 orders, 2,988 lines</a:t>
            </a:r>
          </a:p>
          <a:p>
            <a:pPr algn="l" marL="228600" indent="-182880">
              <a:spcAft>
                <a:spcPts val="400"/>
              </a:spcAft>
              <a:buChar char="•"/>
            </a:pPr>
            <a:r>
              <a:rPr sz="1500" b="0" i="0">
                <a:solidFill>
                  <a:srgbClr val="1B1B1B"/>
                </a:solidFill>
                <a:latin typeface="Calibri"/>
              </a:rPr>
              <a:t>Generated money columns</a:t>
            </a:r>
          </a:p>
          <a:p>
            <a:pPr algn="l" marL="228600" indent="-182880">
              <a:spcAft>
                <a:spcPts val="400"/>
              </a:spcAft>
              <a:buChar char="•"/>
            </a:pPr>
            <a:r>
              <a:rPr sz="1500" b="0" i="0">
                <a:solidFill>
                  <a:srgbClr val="1B1B1B"/>
                </a:solidFill>
                <a:latin typeface="Calibri"/>
              </a:rPr>
              <a:t>CHECK rules from the cleaning stage</a:t>
            </a:r>
          </a:p>
          <a:p>
            <a:pPr algn="l" marL="228600" indent="-182880">
              <a:spcAft>
                <a:spcPts val="400"/>
              </a:spcAft>
              <a:buChar char="•"/>
            </a:pPr>
            <a:r>
              <a:rPr sz="1500" b="0" i="0">
                <a:solidFill>
                  <a:srgbClr val="1B1B1B"/>
                </a:solidFill>
                <a:latin typeface="Calibri"/>
              </a:rPr>
              <a:t>Staging load inside one transaction</a:t>
            </a:r>
          </a:p>
        </p:txBody>
      </p:sp>
      <p:sp>
        <p:nvSpPr>
          <p:cNvPr id="8" name="Rounded Rectangle 7"/>
          <p:cNvSpPr/>
          <p:nvPr/>
        </p:nvSpPr>
        <p:spPr>
          <a:xfrm>
            <a:off x="7498079" y="4572000"/>
            <a:ext cx="4114800" cy="146304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4663440"/>
            <a:ext cx="3657600" cy="1280160"/>
          </a:xfrm>
          <a:prstGeom prst="rect">
            <a:avLst/>
          </a:prstGeom>
          <a:noFill/>
        </p:spPr>
        <p:txBody>
          <a:bodyPr wrap="square" anchor="t" lIns="45720" rIns="45720">
            <a:spAutoFit/>
          </a:bodyPr>
          <a:lstStyle/>
          <a:p>
            <a:pPr algn="l">
              <a:spcAft>
                <a:spcPts val="200"/>
              </a:spcAft>
            </a:pPr>
            <a:r>
              <a:rPr sz="2200" b="1" i="0">
                <a:solidFill>
                  <a:srgbClr val="12372A"/>
                </a:solidFill>
                <a:latin typeface="Cambria"/>
              </a:rPr>
              <a:t>KES 2,179,214.72</a:t>
            </a:r>
          </a:p>
          <a:p>
            <a:pPr algn="l">
              <a:spcAft>
                <a:spcPts val="200"/>
              </a:spcAft>
            </a:pPr>
            <a:r>
              <a:rPr sz="1400" b="0" i="0">
                <a:solidFill>
                  <a:srgbClr val="1B1B1B"/>
                </a:solidFill>
                <a:latin typeface="Calibri"/>
              </a:rPr>
              <a:t>database revenue = Python revenue, 0 mismatches on 2,988 lines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Significant is not the same as important</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11</a:t>
            </a:r>
          </a:p>
        </p:txBody>
      </p:sp>
      <p:graphicFrame>
        <p:nvGraphicFramePr>
          <p:cNvPr id="4" name="Table 3"/>
          <p:cNvGraphicFramePr>
            <a:graphicFrameLocks noGrp="1"/>
          </p:cNvGraphicFramePr>
          <p:nvPr/>
        </p:nvGraphicFramePr>
        <p:xfrm>
          <a:off x="548640" y="1554480"/>
          <a:ext cx="11064240" cy="3657600"/>
        </p:xfrm>
        <a:graphic>
          <a:graphicData uri="http://schemas.openxmlformats.org/drawingml/2006/table">
            <a:tbl>
              <a:tblPr firstRow="1" bandRow="1">
                <a:tableStyleId>{5C22544A-7EE6-4342-B048-85BDC9FD1C3A}</a:tableStyleId>
              </a:tblPr>
              <a:tblGrid>
                <a:gridCol w="2377440"/>
                <a:gridCol w="2011680"/>
                <a:gridCol w="2468880"/>
                <a:gridCol w="2377440"/>
                <a:gridCol w="1828800"/>
              </a:tblGrid>
              <a:tr h="609600">
                <a:tc>
                  <a:txBody>
                    <a:bodyPr/>
                    <a:lstStyle/>
                    <a:p>
                      <a:r>
                        <a:rPr sz="1400" b="1">
                          <a:solidFill>
                            <a:srgbClr val="FFFFFF"/>
                          </a:solidFill>
                          <a:latin typeface="Calibri"/>
                        </a:rPr>
                        <a:t>Question</a:t>
                      </a:r>
                    </a:p>
                  </a:txBody>
                  <a:tcPr marL="91440" marR="91440" anchor="ctr">
                    <a:solidFill>
                      <a:srgbClr val="12372A"/>
                    </a:solidFill>
                  </a:tcPr>
                </a:tc>
                <a:tc>
                  <a:txBody>
                    <a:bodyPr/>
                    <a:lstStyle/>
                    <a:p>
                      <a:r>
                        <a:rPr sz="1400" b="1">
                          <a:solidFill>
                            <a:srgbClr val="FFFFFF"/>
                          </a:solidFill>
                          <a:latin typeface="Calibri"/>
                        </a:rPr>
                        <a:t>Test</a:t>
                      </a:r>
                    </a:p>
                  </a:txBody>
                  <a:tcPr marL="91440" marR="91440" anchor="ctr">
                    <a:solidFill>
                      <a:srgbClr val="12372A"/>
                    </a:solidFill>
                  </a:tcPr>
                </a:tc>
                <a:tc>
                  <a:txBody>
                    <a:bodyPr/>
                    <a:lstStyle/>
                    <a:p>
                      <a:r>
                        <a:rPr sz="1400" b="1">
                          <a:solidFill>
                            <a:srgbClr val="FFFFFF"/>
                          </a:solidFill>
                          <a:latin typeface="Calibri"/>
                        </a:rPr>
                        <a:t>Result</a:t>
                      </a:r>
                    </a:p>
                  </a:txBody>
                  <a:tcPr marL="91440" marR="91440" anchor="ctr">
                    <a:solidFill>
                      <a:srgbClr val="12372A"/>
                    </a:solidFill>
                  </a:tcPr>
                </a:tc>
                <a:tc>
                  <a:txBody>
                    <a:bodyPr/>
                    <a:lstStyle/>
                    <a:p>
                      <a:r>
                        <a:rPr sz="1400" b="1">
                          <a:solidFill>
                            <a:srgbClr val="FFFFFF"/>
                          </a:solidFill>
                          <a:latin typeface="Calibri"/>
                        </a:rPr>
                        <a:t>Effect size</a:t>
                      </a:r>
                    </a:p>
                  </a:txBody>
                  <a:tcPr marL="91440" marR="91440" anchor="ctr">
                    <a:solidFill>
                      <a:srgbClr val="12372A"/>
                    </a:solidFill>
                  </a:tcPr>
                </a:tc>
                <a:tc>
                  <a:txBody>
                    <a:bodyPr/>
                    <a:lstStyle/>
                    <a:p>
                      <a:r>
                        <a:rPr sz="1400" b="1">
                          <a:solidFill>
                            <a:srgbClr val="FFFFFF"/>
                          </a:solidFill>
                          <a:latin typeface="Calibri"/>
                        </a:rPr>
                        <a:t>Meaning</a:t>
                      </a:r>
                    </a:p>
                  </a:txBody>
                  <a:tcPr marL="91440" marR="91440" anchor="ctr">
                    <a:solidFill>
                      <a:srgbClr val="12372A"/>
                    </a:solidFill>
                  </a:tcPr>
                </a:tc>
              </a:tr>
              <a:tr h="609600">
                <a:tc>
                  <a:txBody>
                    <a:bodyPr/>
                    <a:lstStyle/>
                    <a:p>
                      <a:r>
                        <a:rPr sz="1400" b="0">
                          <a:solidFill>
                            <a:srgbClr val="1B1B1B"/>
                          </a:solidFill>
                          <a:latin typeface="Calibri"/>
                        </a:rPr>
                        <a:t>Promotions lift units?</a:t>
                      </a:r>
                    </a:p>
                  </a:txBody>
                  <a:tcPr marL="91440" marR="91440" anchor="ctr">
                    <a:solidFill>
                      <a:srgbClr val="FFFFFF"/>
                    </a:solidFill>
                  </a:tcPr>
                </a:tc>
                <a:tc>
                  <a:txBody>
                    <a:bodyPr/>
                    <a:lstStyle/>
                    <a:p>
                      <a:r>
                        <a:rPr sz="1400" b="0">
                          <a:solidFill>
                            <a:srgbClr val="1B1B1B"/>
                          </a:solidFill>
                          <a:latin typeface="Calibri"/>
                        </a:rPr>
                        <a:t>Mann-Whitney, Holm</a:t>
                      </a:r>
                    </a:p>
                  </a:txBody>
                  <a:tcPr marL="91440" marR="91440" anchor="ctr">
                    <a:solidFill>
                      <a:srgbClr val="FFFFFF"/>
                    </a:solidFill>
                  </a:tcPr>
                </a:tc>
                <a:tc>
                  <a:txBody>
                    <a:bodyPr/>
                    <a:lstStyle/>
                    <a:p>
                      <a:r>
                        <a:rPr sz="1400" b="0">
                          <a:solidFill>
                            <a:srgbClr val="1B1B1B"/>
                          </a:solidFill>
                          <a:latin typeface="Calibri"/>
                        </a:rPr>
                        <a:t>p &lt; 0.001, 6 of 6 categories</a:t>
                      </a:r>
                    </a:p>
                  </a:txBody>
                  <a:tcPr marL="91440" marR="91440" anchor="ctr">
                    <a:solidFill>
                      <a:srgbClr val="FFFFFF"/>
                    </a:solidFill>
                  </a:tcPr>
                </a:tc>
                <a:tc>
                  <a:txBody>
                    <a:bodyPr/>
                    <a:lstStyle/>
                    <a:p>
                      <a:r>
                        <a:rPr sz="1400" b="0">
                          <a:solidFill>
                            <a:srgbClr val="1B1B1B"/>
                          </a:solidFill>
                          <a:latin typeface="Calibri"/>
                        </a:rPr>
                        <a:t>+0.49 units (CI 0.21–0.93)</a:t>
                      </a:r>
                    </a:p>
                  </a:txBody>
                  <a:tcPr marL="91440" marR="91440" anchor="ctr">
                    <a:solidFill>
                      <a:srgbClr val="FFFFFF"/>
                    </a:solidFill>
                  </a:tcPr>
                </a:tc>
                <a:tc>
                  <a:txBody>
                    <a:bodyPr/>
                    <a:lstStyle/>
                    <a:p>
                      <a:r>
                        <a:rPr sz="1400" b="0">
                          <a:solidFill>
                            <a:srgbClr val="1B1B1B"/>
                          </a:solidFill>
                          <a:latin typeface="Calibri"/>
                        </a:rPr>
                        <a:t>Small real uplift</a:t>
                      </a:r>
                    </a:p>
                  </a:txBody>
                  <a:tcPr marL="91440" marR="91440" anchor="ctr">
                    <a:solidFill>
                      <a:srgbClr val="FFFFFF"/>
                    </a:solidFill>
                  </a:tcPr>
                </a:tc>
              </a:tr>
              <a:tr h="609600">
                <a:tc>
                  <a:txBody>
                    <a:bodyPr/>
                    <a:lstStyle/>
                    <a:p>
                      <a:r>
                        <a:rPr sz="1400" b="0">
                          <a:solidFill>
                            <a:srgbClr val="1B1B1B"/>
                          </a:solidFill>
                          <a:latin typeface="Calibri"/>
                        </a:rPr>
                        <a:t>Order value by store?</a:t>
                      </a:r>
                    </a:p>
                  </a:txBody>
                  <a:tcPr marL="91440" marR="91440" anchor="ctr">
                    <a:solidFill>
                      <a:srgbClr val="EDF3EF"/>
                    </a:solidFill>
                  </a:tcPr>
                </a:tc>
                <a:tc>
                  <a:txBody>
                    <a:bodyPr/>
                    <a:lstStyle/>
                    <a:p>
                      <a:r>
                        <a:rPr sz="1400" b="0">
                          <a:solidFill>
                            <a:srgbClr val="1B1B1B"/>
                          </a:solidFill>
                          <a:latin typeface="Calibri"/>
                        </a:rPr>
                        <a:t>Kruskal-Wallis</a:t>
                      </a:r>
                    </a:p>
                  </a:txBody>
                  <a:tcPr marL="91440" marR="91440" anchor="ctr">
                    <a:solidFill>
                      <a:srgbClr val="EDF3EF"/>
                    </a:solidFill>
                  </a:tcPr>
                </a:tc>
                <a:tc>
                  <a:txBody>
                    <a:bodyPr/>
                    <a:lstStyle/>
                    <a:p>
                      <a:r>
                        <a:rPr sz="1400" b="0">
                          <a:solidFill>
                            <a:srgbClr val="1B1B1B"/>
                          </a:solidFill>
                          <a:latin typeface="Calibri"/>
                        </a:rPr>
                        <a:t>p = 0.017</a:t>
                      </a:r>
                    </a:p>
                  </a:txBody>
                  <a:tcPr marL="91440" marR="91440" anchor="ctr">
                    <a:solidFill>
                      <a:srgbClr val="EDF3EF"/>
                    </a:solidFill>
                  </a:tcPr>
                </a:tc>
                <a:tc>
                  <a:txBody>
                    <a:bodyPr/>
                    <a:lstStyle/>
                    <a:p>
                      <a:r>
                        <a:rPr sz="1400" b="0">
                          <a:solidFill>
                            <a:srgbClr val="1B1B1B"/>
                          </a:solidFill>
                          <a:latin typeface="Calibri"/>
                        </a:rPr>
                        <a:t>ε² = 0.003</a:t>
                      </a:r>
                    </a:p>
                  </a:txBody>
                  <a:tcPr marL="91440" marR="91440" anchor="ctr">
                    <a:solidFill>
                      <a:srgbClr val="EDF3EF"/>
                    </a:solidFill>
                  </a:tcPr>
                </a:tc>
                <a:tc>
                  <a:txBody>
                    <a:bodyPr/>
                    <a:lstStyle/>
                    <a:p>
                      <a:r>
                        <a:rPr sz="1400" b="0">
                          <a:solidFill>
                            <a:srgbClr val="1B1B1B"/>
                          </a:solidFill>
                          <a:latin typeface="Calibri"/>
                        </a:rPr>
                        <a:t>Real but tiny</a:t>
                      </a:r>
                    </a:p>
                  </a:txBody>
                  <a:tcPr marL="91440" marR="91440" anchor="ctr">
                    <a:solidFill>
                      <a:srgbClr val="EDF3EF"/>
                    </a:solidFill>
                  </a:tcPr>
                </a:tc>
              </a:tr>
              <a:tr h="609600">
                <a:tc>
                  <a:txBody>
                    <a:bodyPr/>
                    <a:lstStyle/>
                    <a:p>
                      <a:r>
                        <a:rPr sz="1400" b="0">
                          <a:solidFill>
                            <a:srgbClr val="1B1B1B"/>
                          </a:solidFill>
                          <a:latin typeface="Calibri"/>
                        </a:rPr>
                        <a:t>Units by category?</a:t>
                      </a:r>
                    </a:p>
                  </a:txBody>
                  <a:tcPr marL="91440" marR="91440" anchor="ctr">
                    <a:solidFill>
                      <a:srgbClr val="FFFFFF"/>
                    </a:solidFill>
                  </a:tcPr>
                </a:tc>
                <a:tc>
                  <a:txBody>
                    <a:bodyPr/>
                    <a:lstStyle/>
                    <a:p>
                      <a:r>
                        <a:rPr sz="1400" b="0">
                          <a:solidFill>
                            <a:srgbClr val="1B1B1B"/>
                          </a:solidFill>
                          <a:latin typeface="Calibri"/>
                        </a:rPr>
                        <a:t>Kruskal-Wallis</a:t>
                      </a:r>
                    </a:p>
                  </a:txBody>
                  <a:tcPr marL="91440" marR="91440" anchor="ctr">
                    <a:solidFill>
                      <a:srgbClr val="FFFFFF"/>
                    </a:solidFill>
                  </a:tcPr>
                </a:tc>
                <a:tc>
                  <a:txBody>
                    <a:bodyPr/>
                    <a:lstStyle/>
                    <a:p>
                      <a:r>
                        <a:rPr sz="1400" b="0">
                          <a:solidFill>
                            <a:srgbClr val="1B1B1B"/>
                          </a:solidFill>
                          <a:latin typeface="Calibri"/>
                        </a:rPr>
                        <a:t>p ≈ 10⁻⁵²</a:t>
                      </a:r>
                    </a:p>
                  </a:txBody>
                  <a:tcPr marL="91440" marR="91440" anchor="ctr">
                    <a:solidFill>
                      <a:srgbClr val="FFFFFF"/>
                    </a:solidFill>
                  </a:tcPr>
                </a:tc>
                <a:tc>
                  <a:txBody>
                    <a:bodyPr/>
                    <a:lstStyle/>
                    <a:p>
                      <a:r>
                        <a:rPr sz="1400" b="0">
                          <a:solidFill>
                            <a:srgbClr val="1B1B1B"/>
                          </a:solidFill>
                          <a:latin typeface="Calibri"/>
                        </a:rPr>
                        <a:t>ε² = 0.083</a:t>
                      </a:r>
                    </a:p>
                  </a:txBody>
                  <a:tcPr marL="91440" marR="91440" anchor="ctr">
                    <a:solidFill>
                      <a:srgbClr val="FFFFFF"/>
                    </a:solidFill>
                  </a:tcPr>
                </a:tc>
                <a:tc>
                  <a:txBody>
                    <a:bodyPr/>
                    <a:lstStyle/>
                    <a:p>
                      <a:r>
                        <a:rPr sz="1400" b="0">
                          <a:solidFill>
                            <a:srgbClr val="1B1B1B"/>
                          </a:solidFill>
                          <a:latin typeface="Calibri"/>
                        </a:rPr>
                        <a:t>Multi-buys fit staples</a:t>
                      </a:r>
                    </a:p>
                  </a:txBody>
                  <a:tcPr marL="91440" marR="91440" anchor="ctr">
                    <a:solidFill>
                      <a:srgbClr val="FFFFFF"/>
                    </a:solidFill>
                  </a:tcPr>
                </a:tc>
              </a:tr>
              <a:tr h="609600">
                <a:tc>
                  <a:txBody>
                    <a:bodyPr/>
                    <a:lstStyle/>
                    <a:p>
                      <a:r>
                        <a:rPr sz="1400" b="0">
                          <a:solidFill>
                            <a:srgbClr val="1B1B1B"/>
                          </a:solidFill>
                          <a:latin typeface="Calibri"/>
                        </a:rPr>
                        <a:t>Payment by category?</a:t>
                      </a:r>
                    </a:p>
                  </a:txBody>
                  <a:tcPr marL="91440" marR="91440" anchor="ctr">
                    <a:solidFill>
                      <a:srgbClr val="EDF3EF"/>
                    </a:solidFill>
                  </a:tcPr>
                </a:tc>
                <a:tc>
                  <a:txBody>
                    <a:bodyPr/>
                    <a:lstStyle/>
                    <a:p>
                      <a:r>
                        <a:rPr sz="1400" b="0">
                          <a:solidFill>
                            <a:srgbClr val="1B1B1B"/>
                          </a:solidFill>
                          <a:latin typeface="Calibri"/>
                        </a:rPr>
                        <a:t>Chi-square</a:t>
                      </a:r>
                    </a:p>
                  </a:txBody>
                  <a:tcPr marL="91440" marR="91440" anchor="ctr">
                    <a:solidFill>
                      <a:srgbClr val="EDF3EF"/>
                    </a:solidFill>
                  </a:tcPr>
                </a:tc>
                <a:tc>
                  <a:txBody>
                    <a:bodyPr/>
                    <a:lstStyle/>
                    <a:p>
                      <a:r>
                        <a:rPr sz="1400" b="0">
                          <a:solidFill>
                            <a:srgbClr val="1B1B1B"/>
                          </a:solidFill>
                          <a:latin typeface="Calibri"/>
                        </a:rPr>
                        <a:t>Holm p = 0.043</a:t>
                      </a:r>
                    </a:p>
                  </a:txBody>
                  <a:tcPr marL="91440" marR="91440" anchor="ctr">
                    <a:solidFill>
                      <a:srgbClr val="EDF3EF"/>
                    </a:solidFill>
                  </a:tcPr>
                </a:tc>
                <a:tc>
                  <a:txBody>
                    <a:bodyPr/>
                    <a:lstStyle/>
                    <a:p>
                      <a:r>
                        <a:rPr sz="1400" b="0">
                          <a:solidFill>
                            <a:srgbClr val="1B1B1B"/>
                          </a:solidFill>
                          <a:latin typeface="Calibri"/>
                        </a:rPr>
                        <a:t>V = 0.056</a:t>
                      </a:r>
                    </a:p>
                  </a:txBody>
                  <a:tcPr marL="91440" marR="91440" anchor="ctr">
                    <a:solidFill>
                      <a:srgbClr val="EDF3EF"/>
                    </a:solidFill>
                  </a:tcPr>
                </a:tc>
                <a:tc>
                  <a:txBody>
                    <a:bodyPr/>
                    <a:lstStyle/>
                    <a:p>
                      <a:r>
                        <a:rPr sz="1400" b="0">
                          <a:solidFill>
                            <a:srgbClr val="1B1B1B"/>
                          </a:solidFill>
                          <a:latin typeface="Calibri"/>
                        </a:rPr>
                        <a:t>Cards for electronics</a:t>
                      </a:r>
                    </a:p>
                  </a:txBody>
                  <a:tcPr marL="91440" marR="91440" anchor="ctr">
                    <a:solidFill>
                      <a:srgbClr val="EDF3EF"/>
                    </a:solidFill>
                  </a:tcPr>
                </a:tc>
              </a:tr>
              <a:tr h="609600">
                <a:tc>
                  <a:txBody>
                    <a:bodyPr/>
                    <a:lstStyle/>
                    <a:p>
                      <a:r>
                        <a:rPr sz="1400" b="0">
                          <a:solidFill>
                            <a:srgbClr val="1B1B1B"/>
                          </a:solidFill>
                          <a:latin typeface="Calibri"/>
                        </a:rPr>
                        <a:t>Time of day by category?</a:t>
                      </a:r>
                    </a:p>
                  </a:txBody>
                  <a:tcPr marL="91440" marR="91440" anchor="ctr">
                    <a:solidFill>
                      <a:srgbClr val="FFFFFF"/>
                    </a:solidFill>
                  </a:tcPr>
                </a:tc>
                <a:tc>
                  <a:txBody>
                    <a:bodyPr/>
                    <a:lstStyle/>
                    <a:p>
                      <a:r>
                        <a:rPr sz="1400" b="0">
                          <a:solidFill>
                            <a:srgbClr val="1B1B1B"/>
                          </a:solidFill>
                          <a:latin typeface="Calibri"/>
                        </a:rPr>
                        <a:t>Chi-square</a:t>
                      </a:r>
                    </a:p>
                  </a:txBody>
                  <a:tcPr marL="91440" marR="91440" anchor="ctr">
                    <a:solidFill>
                      <a:srgbClr val="FFFFFF"/>
                    </a:solidFill>
                  </a:tcPr>
                </a:tc>
                <a:tc>
                  <a:txBody>
                    <a:bodyPr/>
                    <a:lstStyle/>
                    <a:p>
                      <a:r>
                        <a:rPr sz="1400" b="0">
                          <a:solidFill>
                            <a:srgbClr val="1B1B1B"/>
                          </a:solidFill>
                          <a:latin typeface="Calibri"/>
                        </a:rPr>
                        <a:t>p = 0.33</a:t>
                      </a:r>
                    </a:p>
                  </a:txBody>
                  <a:tcPr marL="91440" marR="91440" anchor="ctr">
                    <a:solidFill>
                      <a:srgbClr val="FFFFFF"/>
                    </a:solidFill>
                  </a:tcPr>
                </a:tc>
                <a:tc>
                  <a:txBody>
                    <a:bodyPr/>
                    <a:lstStyle/>
                    <a:p>
                      <a:r>
                        <a:rPr sz="1400" b="0">
                          <a:solidFill>
                            <a:srgbClr val="1B1B1B"/>
                          </a:solidFill>
                          <a:latin typeface="Calibri"/>
                        </a:rPr>
                        <a:t>V = 0.043</a:t>
                      </a:r>
                    </a:p>
                  </a:txBody>
                  <a:tcPr marL="91440" marR="91440" anchor="ctr">
                    <a:solidFill>
                      <a:srgbClr val="FFFFFF"/>
                    </a:solidFill>
                  </a:tcPr>
                </a:tc>
                <a:tc>
                  <a:txBody>
                    <a:bodyPr/>
                    <a:lstStyle/>
                    <a:p>
                      <a:r>
                        <a:rPr sz="1400" b="0">
                          <a:solidFill>
                            <a:srgbClr val="1B1B1B"/>
                          </a:solidFill>
                          <a:latin typeface="Calibri"/>
                        </a:rPr>
                        <a:t>One staffing plan</a:t>
                      </a:r>
                    </a:p>
                  </a:txBody>
                  <a:tcPr marL="91440" marR="91440" anchor="ctr">
                    <a:solidFill>
                      <a:srgbClr val="FFFFFF"/>
                    </a:solidFill>
                  </a:tcPr>
                </a:tc>
              </a:tr>
            </a:tbl>
          </a:graphicData>
        </a:graphic>
      </p:graphicFrame>
      <p:sp>
        <p:nvSpPr>
          <p:cNvPr id="5" name="TextBox 4"/>
          <p:cNvSpPr txBox="1"/>
          <p:nvPr/>
        </p:nvSpPr>
        <p:spPr>
          <a:xfrm>
            <a:off x="548640" y="5440680"/>
            <a:ext cx="11064240" cy="731520"/>
          </a:xfrm>
          <a:prstGeom prst="rect">
            <a:avLst/>
          </a:prstGeom>
          <a:noFill/>
        </p:spPr>
        <p:txBody>
          <a:bodyPr wrap="square" anchor="t" lIns="45720" rIns="45720">
            <a:spAutoFit/>
          </a:bodyPr>
          <a:lstStyle/>
          <a:p>
            <a:pPr algn="l">
              <a:spcAft>
                <a:spcPts val="600"/>
              </a:spcAft>
            </a:pPr>
            <a:r>
              <a:rPr sz="1600" b="1" i="0">
                <a:solidFill>
                  <a:srgbClr val="EB6834"/>
                </a:solidFill>
                <a:latin typeface="Calibri"/>
              </a:rPr>
              <a:t>No causal claims: </a:t>
            </a:r>
            <a:r>
              <a:rPr sz="1600" b="0" i="0">
                <a:solidFill>
                  <a:srgbClr val="1B1B1B"/>
                </a:solidFill>
                <a:latin typeface="Calibri"/>
              </a:rPr>
              <a:t>promotions were not randomly assigned, so the next step is a controlled store-level trial.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The forecast is honest about its uncertainty</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12</a:t>
            </a:r>
          </a:p>
        </p:txBody>
      </p:sp>
      <p:graphicFrame>
        <p:nvGraphicFramePr>
          <p:cNvPr id="4" name="Chart 3"/>
          <p:cNvGraphicFramePr>
            <a:graphicFrameLocks noGrp="1"/>
          </p:cNvGraphicFramePr>
          <p:nvPr/>
        </p:nvGraphicFramePr>
        <p:xfrm>
          <a:off x="548640" y="1463040"/>
          <a:ext cx="7498079" cy="4572000"/>
        </p:xfrm>
        <a:graphic>
          <a:graphicData uri="http://schemas.openxmlformats.org/drawingml/2006/chart">
            <c:chart xmlns:c="http://schemas.openxmlformats.org/drawingml/2006/chart" r:id="rId3"/>
          </a:graphicData>
        </a:graphic>
      </p:graphicFrame>
      <p:sp>
        <p:nvSpPr>
          <p:cNvPr id="5" name="Rounded Rectangle 4"/>
          <p:cNvSpPr/>
          <p:nvPr/>
        </p:nvSpPr>
        <p:spPr>
          <a:xfrm>
            <a:off x="8412480" y="1463040"/>
            <a:ext cx="3200400" cy="141732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59" y="1554480"/>
            <a:ext cx="2834640" cy="621792"/>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KES 98.8K</a:t>
            </a:r>
          </a:p>
        </p:txBody>
      </p:sp>
      <p:sp>
        <p:nvSpPr>
          <p:cNvPr id="7" name="TextBox 6"/>
          <p:cNvSpPr txBox="1"/>
          <p:nvPr/>
        </p:nvSpPr>
        <p:spPr>
          <a:xfrm>
            <a:off x="8595359" y="2194560"/>
            <a:ext cx="2834640" cy="59436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Jan 2026 point forecast (80% range 82–121K)</a:t>
            </a:r>
          </a:p>
        </p:txBody>
      </p:sp>
      <p:sp>
        <p:nvSpPr>
          <p:cNvPr id="8" name="Rounded Rectangle 7"/>
          <p:cNvSpPr/>
          <p:nvPr/>
        </p:nvSpPr>
        <p:spPr>
          <a:xfrm>
            <a:off x="8412480" y="3017520"/>
            <a:ext cx="3200400" cy="141732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59" y="3108960"/>
            <a:ext cx="2834640" cy="621792"/>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KES 17.5K</a:t>
            </a:r>
          </a:p>
        </p:txBody>
      </p:sp>
      <p:sp>
        <p:nvSpPr>
          <p:cNvPr id="10" name="TextBox 9"/>
          <p:cNvSpPr txBox="1"/>
          <p:nvPr/>
        </p:nvSpPr>
        <p:spPr>
          <a:xfrm>
            <a:off x="8595359" y="3749039"/>
            <a:ext cx="2834640" cy="59436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test MAE (16.5%); naive baseline 18.4K</a:t>
            </a:r>
          </a:p>
        </p:txBody>
      </p:sp>
      <p:sp>
        <p:nvSpPr>
          <p:cNvPr id="11" name="Rounded Rectangle 10"/>
          <p:cNvSpPr/>
          <p:nvPr/>
        </p:nvSpPr>
        <p:spPr>
          <a:xfrm>
            <a:off x="8412480" y="4572000"/>
            <a:ext cx="3200400" cy="141732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59" y="4663440"/>
            <a:ext cx="2834640" cy="621792"/>
          </a:xfrm>
          <a:prstGeom prst="rect">
            <a:avLst/>
          </a:prstGeom>
          <a:noFill/>
        </p:spPr>
        <p:txBody>
          <a:bodyPr wrap="square" anchor="ctr" lIns="45720" rIns="45720">
            <a:spAutoFit/>
          </a:bodyPr>
          <a:lstStyle/>
          <a:p>
            <a:pPr algn="l">
              <a:spcAft>
                <a:spcPts val="600"/>
              </a:spcAft>
            </a:pPr>
            <a:r>
              <a:rPr sz="3000" b="1" i="0">
                <a:solidFill>
                  <a:srgbClr val="EB6834"/>
                </a:solidFill>
                <a:latin typeface="Cambria"/>
              </a:rPr>
              <a:t>KES 75–85K</a:t>
            </a:r>
          </a:p>
        </p:txBody>
      </p:sp>
      <p:sp>
        <p:nvSpPr>
          <p:cNvPr id="13" name="TextBox 12"/>
          <p:cNvSpPr txBox="1"/>
          <p:nvPr/>
        </p:nvSpPr>
        <p:spPr>
          <a:xfrm>
            <a:off x="8595359" y="5303520"/>
            <a:ext cx="2834640" cy="59436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recommended January plan: Januaries ran 65–70K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A simple rule finds non-returners with 93% precision</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13</a:t>
            </a:r>
          </a:p>
        </p:txBody>
      </p:sp>
      <p:graphicFrame>
        <p:nvGraphicFramePr>
          <p:cNvPr id="4" name="Chart 3"/>
          <p:cNvGraphicFramePr>
            <a:graphicFrameLocks noGrp="1"/>
          </p:cNvGraphicFramePr>
          <p:nvPr/>
        </p:nvGraphicFramePr>
        <p:xfrm>
          <a:off x="548640" y="1463040"/>
          <a:ext cx="6766560" cy="4572000"/>
        </p:xfrm>
        <a:graphic>
          <a:graphicData uri="http://schemas.openxmlformats.org/drawingml/2006/chart">
            <c:chart xmlns:c="http://schemas.openxmlformats.org/drawingml/2006/chart" r:id="rId3"/>
          </a:graphicData>
        </a:graphic>
      </p:graphicFrame>
      <p:sp>
        <p:nvSpPr>
          <p:cNvPr id="5" name="Rounded Rectangle 4"/>
          <p:cNvSpPr/>
          <p:nvPr/>
        </p:nvSpPr>
        <p:spPr>
          <a:xfrm>
            <a:off x="7680960" y="1463040"/>
            <a:ext cx="3931920" cy="141732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0" y="1554480"/>
            <a:ext cx="3566160" cy="621792"/>
          </a:xfrm>
          <a:prstGeom prst="rect">
            <a:avLst/>
          </a:prstGeom>
          <a:noFill/>
        </p:spPr>
        <p:txBody>
          <a:bodyPr wrap="square" anchor="ctr" lIns="45720" rIns="45720">
            <a:spAutoFit/>
          </a:bodyPr>
          <a:lstStyle/>
          <a:p>
            <a:pPr algn="l">
              <a:spcAft>
                <a:spcPts val="600"/>
              </a:spcAft>
            </a:pPr>
            <a:r>
              <a:rPr sz="3200" b="1" i="0">
                <a:solidFill>
                  <a:srgbClr val="12372A"/>
                </a:solidFill>
                <a:latin typeface="Cambria"/>
              </a:rPr>
              <a:t>93%</a:t>
            </a:r>
          </a:p>
        </p:txBody>
      </p:sp>
      <p:sp>
        <p:nvSpPr>
          <p:cNvPr id="7" name="TextBox 6"/>
          <p:cNvSpPr txBox="1"/>
          <p:nvPr/>
        </p:nvSpPr>
        <p:spPr>
          <a:xfrm>
            <a:off x="7863840" y="2194560"/>
            <a:ext cx="3566160" cy="59436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of customers the rule flagged really did not return</a:t>
            </a:r>
          </a:p>
        </p:txBody>
      </p:sp>
      <p:sp>
        <p:nvSpPr>
          <p:cNvPr id="8" name="Rounded Rectangle 7"/>
          <p:cNvSpPr/>
          <p:nvPr/>
        </p:nvSpPr>
        <p:spPr>
          <a:xfrm>
            <a:off x="7680960" y="3017520"/>
            <a:ext cx="3931920" cy="141732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3108960"/>
            <a:ext cx="3566160" cy="621792"/>
          </a:xfrm>
          <a:prstGeom prst="rect">
            <a:avLst/>
          </a:prstGeom>
          <a:noFill/>
        </p:spPr>
        <p:txBody>
          <a:bodyPr wrap="square" anchor="ctr" lIns="45720" rIns="45720">
            <a:spAutoFit/>
          </a:bodyPr>
          <a:lstStyle/>
          <a:p>
            <a:pPr algn="l">
              <a:spcAft>
                <a:spcPts val="600"/>
              </a:spcAft>
            </a:pPr>
            <a:r>
              <a:rPr sz="3200" b="1" i="0">
                <a:solidFill>
                  <a:srgbClr val="EB6834"/>
                </a:solidFill>
                <a:latin typeface="Cambria"/>
              </a:rPr>
              <a:t>249</a:t>
            </a:r>
          </a:p>
        </p:txBody>
      </p:sp>
      <p:sp>
        <p:nvSpPr>
          <p:cNvPr id="10" name="TextBox 9"/>
          <p:cNvSpPr txBox="1"/>
          <p:nvPr/>
        </p:nvSpPr>
        <p:spPr>
          <a:xfrm>
            <a:off x="7863840" y="3749039"/>
            <a:ext cx="3566160" cy="59436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established customers flagged today, of 419</a:t>
            </a:r>
          </a:p>
        </p:txBody>
      </p:sp>
      <p:sp>
        <p:nvSpPr>
          <p:cNvPr id="11" name="Rounded Rectangle 10"/>
          <p:cNvSpPr/>
          <p:nvPr/>
        </p:nvSpPr>
        <p:spPr>
          <a:xfrm>
            <a:off x="7680960" y="4572000"/>
            <a:ext cx="3931920" cy="141732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0" y="4663440"/>
            <a:ext cx="3566160" cy="621792"/>
          </a:xfrm>
          <a:prstGeom prst="rect">
            <a:avLst/>
          </a:prstGeom>
          <a:noFill/>
        </p:spPr>
        <p:txBody>
          <a:bodyPr wrap="square" anchor="ctr" lIns="45720" rIns="45720">
            <a:spAutoFit/>
          </a:bodyPr>
          <a:lstStyle/>
          <a:p>
            <a:pPr algn="l">
              <a:spcAft>
                <a:spcPts val="600"/>
              </a:spcAft>
            </a:pPr>
            <a:r>
              <a:rPr sz="3200" b="1" i="0">
                <a:solidFill>
                  <a:srgbClr val="12372A"/>
                </a:solidFill>
                <a:latin typeface="Cambria"/>
              </a:rPr>
              <a:t>KES 541,641</a:t>
            </a:r>
          </a:p>
        </p:txBody>
      </p:sp>
      <p:sp>
        <p:nvSpPr>
          <p:cNvPr id="13" name="TextBox 12"/>
          <p:cNvSpPr txBox="1"/>
          <p:nvPr/>
        </p:nvSpPr>
        <p:spPr>
          <a:xfrm>
            <a:off x="7863840" y="5303520"/>
            <a:ext cx="3566160" cy="594360"/>
          </a:xfrm>
          <a:prstGeom prst="rect">
            <a:avLst/>
          </a:prstGeom>
          <a:noFill/>
        </p:spPr>
        <p:txBody>
          <a:bodyPr wrap="square" anchor="t" lIns="45720" rIns="45720">
            <a:spAutoFit/>
          </a:bodyPr>
          <a:lstStyle/>
          <a:p>
            <a:pPr algn="l">
              <a:spcAft>
                <a:spcPts val="600"/>
              </a:spcAft>
            </a:pPr>
            <a:r>
              <a:rPr sz="1400" b="0" i="0">
                <a:solidFill>
                  <a:srgbClr val="1B1B1B"/>
                </a:solidFill>
                <a:latin typeface="Calibri"/>
              </a:rPr>
              <a:t>lifetime spend of the flagged customers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A five-page Power BI dashboard for managers</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14</a:t>
            </a:r>
          </a:p>
        </p:txBody>
      </p:sp>
      <p:pic>
        <p:nvPicPr>
          <p:cNvPr id="4" name="Executive Overview" descr="01_executive_overview.png"/>
          <p:cNvPicPr>
            <a:picLocks noChangeAspect="1"/>
          </p:cNvPicPr>
          <p:nvPr/>
        </p:nvPicPr>
        <p:blipFill>
          <a:blip r:embed="rId3"/>
          <a:stretch>
            <a:fillRect/>
          </a:stretch>
        </p:blipFill>
        <p:spPr>
          <a:xfrm>
            <a:off x="1346459" y="1371600"/>
            <a:ext cx="3845042" cy="2148840"/>
          </a:xfrm>
          <a:prstGeom prst="rect">
            <a:avLst/>
          </a:prstGeom>
          <a:ln w="12700">
            <a:solidFill>
              <a:srgbClr val="D9DFDB"/>
            </a:solidFill>
          </a:ln>
        </p:spPr>
      </p:pic>
      <p:sp>
        <p:nvSpPr>
          <p:cNvPr id="5" name="TextBox 4"/>
          <p:cNvSpPr txBox="1"/>
          <p:nvPr/>
        </p:nvSpPr>
        <p:spPr>
          <a:xfrm>
            <a:off x="1346459" y="3547872"/>
            <a:ext cx="3845042" cy="320040"/>
          </a:xfrm>
          <a:prstGeom prst="rect">
            <a:avLst/>
          </a:prstGeom>
          <a:noFill/>
        </p:spPr>
        <p:txBody>
          <a:bodyPr wrap="square" anchor="t" lIns="0" rIns="0" tIns="0" bIns="0">
            <a:spAutoFit/>
          </a:bodyPr>
          <a:lstStyle/>
          <a:p>
            <a:pPr algn="l">
              <a:spcAft>
                <a:spcPts val="600"/>
              </a:spcAft>
            </a:pPr>
            <a:r>
              <a:rPr sz="1200" b="1" i="0">
                <a:solidFill>
                  <a:srgbClr val="12372A"/>
                </a:solidFill>
                <a:latin typeface="Calibri"/>
              </a:rPr>
              <a:t>Executive Overview</a:t>
            </a:r>
          </a:p>
        </p:txBody>
      </p:sp>
      <p:pic>
        <p:nvPicPr>
          <p:cNvPr id="6" name="Customer Intelligence" descr="03_customer_intelligence.png"/>
          <p:cNvPicPr>
            <a:picLocks noChangeAspect="1"/>
          </p:cNvPicPr>
          <p:nvPr/>
        </p:nvPicPr>
        <p:blipFill>
          <a:blip r:embed="rId4"/>
          <a:stretch>
            <a:fillRect/>
          </a:stretch>
        </p:blipFill>
        <p:spPr>
          <a:xfrm>
            <a:off x="6992770" y="1371600"/>
            <a:ext cx="3799540" cy="2148840"/>
          </a:xfrm>
          <a:prstGeom prst="rect">
            <a:avLst/>
          </a:prstGeom>
          <a:ln w="12700">
            <a:solidFill>
              <a:srgbClr val="D9DFDB"/>
            </a:solidFill>
          </a:ln>
        </p:spPr>
      </p:pic>
      <p:sp>
        <p:nvSpPr>
          <p:cNvPr id="7" name="TextBox 6"/>
          <p:cNvSpPr txBox="1"/>
          <p:nvPr/>
        </p:nvSpPr>
        <p:spPr>
          <a:xfrm>
            <a:off x="6992770" y="3547872"/>
            <a:ext cx="3799540" cy="320040"/>
          </a:xfrm>
          <a:prstGeom prst="rect">
            <a:avLst/>
          </a:prstGeom>
          <a:noFill/>
        </p:spPr>
        <p:txBody>
          <a:bodyPr wrap="square" anchor="t" lIns="0" rIns="0" tIns="0" bIns="0">
            <a:spAutoFit/>
          </a:bodyPr>
          <a:lstStyle/>
          <a:p>
            <a:pPr algn="l">
              <a:spcAft>
                <a:spcPts val="600"/>
              </a:spcAft>
            </a:pPr>
            <a:r>
              <a:rPr sz="1200" b="1" i="0">
                <a:solidFill>
                  <a:srgbClr val="12372A"/>
                </a:solidFill>
                <a:latin typeface="Calibri"/>
              </a:rPr>
              <a:t>Customer Intelligence</a:t>
            </a:r>
          </a:p>
        </p:txBody>
      </p:sp>
      <p:pic>
        <p:nvPicPr>
          <p:cNvPr id="8" name="Store Performance" descr="04_store_performance.png"/>
          <p:cNvPicPr>
            <a:picLocks noChangeAspect="1"/>
          </p:cNvPicPr>
          <p:nvPr/>
        </p:nvPicPr>
        <p:blipFill>
          <a:blip r:embed="rId5"/>
          <a:stretch>
            <a:fillRect/>
          </a:stretch>
        </p:blipFill>
        <p:spPr>
          <a:xfrm>
            <a:off x="1361085" y="3886200"/>
            <a:ext cx="3815789" cy="2148840"/>
          </a:xfrm>
          <a:prstGeom prst="rect">
            <a:avLst/>
          </a:prstGeom>
          <a:ln w="12700">
            <a:solidFill>
              <a:srgbClr val="D9DFDB"/>
            </a:solidFill>
          </a:ln>
        </p:spPr>
      </p:pic>
      <p:sp>
        <p:nvSpPr>
          <p:cNvPr id="9" name="TextBox 8"/>
          <p:cNvSpPr txBox="1"/>
          <p:nvPr/>
        </p:nvSpPr>
        <p:spPr>
          <a:xfrm>
            <a:off x="1361085" y="6062472"/>
            <a:ext cx="3815788" cy="320040"/>
          </a:xfrm>
          <a:prstGeom prst="rect">
            <a:avLst/>
          </a:prstGeom>
          <a:noFill/>
        </p:spPr>
        <p:txBody>
          <a:bodyPr wrap="square" anchor="t" lIns="0" rIns="0" tIns="0" bIns="0">
            <a:spAutoFit/>
          </a:bodyPr>
          <a:lstStyle/>
          <a:p>
            <a:pPr algn="l">
              <a:spcAft>
                <a:spcPts val="600"/>
              </a:spcAft>
            </a:pPr>
            <a:r>
              <a:rPr sz="1200" b="1" i="0">
                <a:solidFill>
                  <a:srgbClr val="12372A"/>
                </a:solidFill>
                <a:latin typeface="Calibri"/>
              </a:rPr>
              <a:t>Store Performance</a:t>
            </a:r>
          </a:p>
        </p:txBody>
      </p:sp>
      <p:pic>
        <p:nvPicPr>
          <p:cNvPr id="10" name="Demand Forecasting" descr="05_demand_forecasting.png"/>
          <p:cNvPicPr>
            <a:picLocks noChangeAspect="1"/>
          </p:cNvPicPr>
          <p:nvPr/>
        </p:nvPicPr>
        <p:blipFill>
          <a:blip r:embed="rId6"/>
          <a:stretch>
            <a:fillRect/>
          </a:stretch>
        </p:blipFill>
        <p:spPr>
          <a:xfrm>
            <a:off x="7002780" y="3886200"/>
            <a:ext cx="3779520" cy="2148840"/>
          </a:xfrm>
          <a:prstGeom prst="rect">
            <a:avLst/>
          </a:prstGeom>
          <a:ln w="12700">
            <a:solidFill>
              <a:srgbClr val="D9DFDB"/>
            </a:solidFill>
          </a:ln>
        </p:spPr>
      </p:pic>
      <p:sp>
        <p:nvSpPr>
          <p:cNvPr id="11" name="TextBox 10"/>
          <p:cNvSpPr txBox="1"/>
          <p:nvPr/>
        </p:nvSpPr>
        <p:spPr>
          <a:xfrm>
            <a:off x="7002780" y="6062472"/>
            <a:ext cx="3779520" cy="320040"/>
          </a:xfrm>
          <a:prstGeom prst="rect">
            <a:avLst/>
          </a:prstGeom>
          <a:noFill/>
        </p:spPr>
        <p:txBody>
          <a:bodyPr wrap="square" anchor="t" lIns="0" rIns="0" tIns="0" bIns="0">
            <a:spAutoFit/>
          </a:bodyPr>
          <a:lstStyle/>
          <a:p>
            <a:pPr algn="l">
              <a:spcAft>
                <a:spcPts val="600"/>
              </a:spcAft>
            </a:pPr>
            <a:r>
              <a:rPr sz="1200" b="1" i="0">
                <a:solidFill>
                  <a:srgbClr val="12372A"/>
                </a:solidFill>
                <a:latin typeface="Calibri"/>
              </a:rPr>
              <a:t>Demand Forecasting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Six recommendations, each with a measure of success</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15</a:t>
            </a:r>
          </a:p>
        </p:txBody>
      </p:sp>
      <p:sp>
        <p:nvSpPr>
          <p:cNvPr id="4" name="Rounded Rectangle 3"/>
          <p:cNvSpPr/>
          <p:nvPr/>
        </p:nvSpPr>
        <p:spPr>
          <a:xfrm>
            <a:off x="548640" y="1508760"/>
            <a:ext cx="3566160" cy="214884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783080"/>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6" name="TextBox 5"/>
          <p:cNvSpPr txBox="1"/>
          <p:nvPr/>
        </p:nvSpPr>
        <p:spPr>
          <a:xfrm>
            <a:off x="1463040" y="1737360"/>
            <a:ext cx="2514600" cy="640080"/>
          </a:xfrm>
          <a:prstGeom prst="rect">
            <a:avLst/>
          </a:prstGeom>
          <a:noFill/>
        </p:spPr>
        <p:txBody>
          <a:bodyPr wrap="square" anchor="ctr" lIns="45720" rIns="45720">
            <a:spAutoFit/>
          </a:bodyPr>
          <a:lstStyle/>
          <a:p>
            <a:pPr algn="l">
              <a:spcAft>
                <a:spcPts val="600"/>
              </a:spcAft>
            </a:pPr>
            <a:r>
              <a:rPr sz="1800" b="1" i="0">
                <a:solidFill>
                  <a:srgbClr val="12372A"/>
                </a:solidFill>
                <a:latin typeface="Cambria"/>
              </a:rPr>
              <a:t>Protect clothing margins</a:t>
            </a:r>
          </a:p>
        </p:txBody>
      </p:sp>
      <p:sp>
        <p:nvSpPr>
          <p:cNvPr id="7" name="TextBox 6"/>
          <p:cNvSpPr txBox="1"/>
          <p:nvPr/>
        </p:nvSpPr>
        <p:spPr>
          <a:xfrm>
            <a:off x="777240" y="2468880"/>
            <a:ext cx="3154680" cy="731520"/>
          </a:xfrm>
          <a:prstGeom prst="rect">
            <a:avLst/>
          </a:prstGeom>
          <a:noFill/>
        </p:spPr>
        <p:txBody>
          <a:bodyPr wrap="square" anchor="t" lIns="45720" rIns="45720">
            <a:spAutoFit/>
          </a:bodyPr>
          <a:lstStyle/>
          <a:p>
            <a:pPr algn="l">
              <a:spcAft>
                <a:spcPts val="600"/>
              </a:spcAft>
            </a:pPr>
            <a:r>
              <a:rPr sz="1500" b="0" i="0">
                <a:solidFill>
                  <a:srgbClr val="1B1B1B"/>
                </a:solidFill>
                <a:latin typeface="Calibri"/>
              </a:rPr>
              <a:t>Keep uniforms stocked before each term; no clothing discounts.</a:t>
            </a:r>
          </a:p>
        </p:txBody>
      </p:sp>
      <p:sp>
        <p:nvSpPr>
          <p:cNvPr id="8" name="TextBox 7"/>
          <p:cNvSpPr txBox="1"/>
          <p:nvPr/>
        </p:nvSpPr>
        <p:spPr>
          <a:xfrm>
            <a:off x="777240" y="3200400"/>
            <a:ext cx="3154680" cy="365760"/>
          </a:xfrm>
          <a:prstGeom prst="rect">
            <a:avLst/>
          </a:prstGeom>
          <a:noFill/>
        </p:spPr>
        <p:txBody>
          <a:bodyPr wrap="square" anchor="t" lIns="45720" rIns="45720">
            <a:spAutoFit/>
          </a:bodyPr>
          <a:lstStyle/>
          <a:p>
            <a:pPr algn="l">
              <a:spcAft>
                <a:spcPts val="600"/>
              </a:spcAft>
            </a:pPr>
            <a:r>
              <a:rPr sz="1300" b="1" i="0">
                <a:solidFill>
                  <a:srgbClr val="EB6834"/>
                </a:solidFill>
                <a:latin typeface="Calibri"/>
              </a:rPr>
              <a:t>KPI: clothing margin</a:t>
            </a:r>
          </a:p>
        </p:txBody>
      </p:sp>
      <p:sp>
        <p:nvSpPr>
          <p:cNvPr id="9" name="Rounded Rectangle 8"/>
          <p:cNvSpPr/>
          <p:nvPr/>
        </p:nvSpPr>
        <p:spPr>
          <a:xfrm>
            <a:off x="4297679" y="1508760"/>
            <a:ext cx="3566160" cy="214884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26279" y="1783080"/>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1" name="TextBox 10"/>
          <p:cNvSpPr txBox="1"/>
          <p:nvPr/>
        </p:nvSpPr>
        <p:spPr>
          <a:xfrm>
            <a:off x="5212079" y="1737360"/>
            <a:ext cx="2514600" cy="640080"/>
          </a:xfrm>
          <a:prstGeom prst="rect">
            <a:avLst/>
          </a:prstGeom>
          <a:noFill/>
        </p:spPr>
        <p:txBody>
          <a:bodyPr wrap="square" anchor="ctr" lIns="45720" rIns="45720">
            <a:spAutoFit/>
          </a:bodyPr>
          <a:lstStyle/>
          <a:p>
            <a:pPr algn="l">
              <a:spcAft>
                <a:spcPts val="600"/>
              </a:spcAft>
            </a:pPr>
            <a:r>
              <a:rPr sz="1800" b="1" i="0">
                <a:solidFill>
                  <a:srgbClr val="12372A"/>
                </a:solidFill>
                <a:latin typeface="Cambria"/>
              </a:rPr>
              <a:t>Cap promotion discounts</a:t>
            </a:r>
          </a:p>
        </p:txBody>
      </p:sp>
      <p:sp>
        <p:nvSpPr>
          <p:cNvPr id="12" name="TextBox 11"/>
          <p:cNvSpPr txBox="1"/>
          <p:nvPr/>
        </p:nvSpPr>
        <p:spPr>
          <a:xfrm>
            <a:off x="4526279" y="2468880"/>
            <a:ext cx="3154680" cy="731520"/>
          </a:xfrm>
          <a:prstGeom prst="rect">
            <a:avLst/>
          </a:prstGeom>
          <a:noFill/>
        </p:spPr>
        <p:txBody>
          <a:bodyPr wrap="square" anchor="t" lIns="45720" rIns="45720">
            <a:spAutoFit/>
          </a:bodyPr>
          <a:lstStyle/>
          <a:p>
            <a:pPr algn="l">
              <a:spcAft>
                <a:spcPts val="600"/>
              </a:spcAft>
            </a:pPr>
            <a:r>
              <a:rPr sz="1500" b="0" i="0">
                <a:solidFill>
                  <a:srgbClr val="1B1B1B"/>
                </a:solidFill>
                <a:latin typeface="Calibri"/>
              </a:rPr>
              <a:t>Keep every discount below the category margin.</a:t>
            </a:r>
          </a:p>
        </p:txBody>
      </p:sp>
      <p:sp>
        <p:nvSpPr>
          <p:cNvPr id="13" name="TextBox 12"/>
          <p:cNvSpPr txBox="1"/>
          <p:nvPr/>
        </p:nvSpPr>
        <p:spPr>
          <a:xfrm>
            <a:off x="4526279" y="3200400"/>
            <a:ext cx="3154680" cy="365760"/>
          </a:xfrm>
          <a:prstGeom prst="rect">
            <a:avLst/>
          </a:prstGeom>
          <a:noFill/>
        </p:spPr>
        <p:txBody>
          <a:bodyPr wrap="square" anchor="t" lIns="45720" rIns="45720">
            <a:spAutoFit/>
          </a:bodyPr>
          <a:lstStyle/>
          <a:p>
            <a:pPr algn="l">
              <a:spcAft>
                <a:spcPts val="600"/>
              </a:spcAft>
            </a:pPr>
            <a:r>
              <a:rPr sz="1300" b="1" i="0">
                <a:solidFill>
                  <a:srgbClr val="EB6834"/>
                </a:solidFill>
                <a:latin typeface="Calibri"/>
              </a:rPr>
              <a:t>KPI: margin per campaign</a:t>
            </a:r>
          </a:p>
        </p:txBody>
      </p:sp>
      <p:sp>
        <p:nvSpPr>
          <p:cNvPr id="14" name="Rounded Rectangle 13"/>
          <p:cNvSpPr/>
          <p:nvPr/>
        </p:nvSpPr>
        <p:spPr>
          <a:xfrm>
            <a:off x="8046719" y="1508760"/>
            <a:ext cx="3566160" cy="214884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75319" y="1783080"/>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6" name="TextBox 15"/>
          <p:cNvSpPr txBox="1"/>
          <p:nvPr/>
        </p:nvSpPr>
        <p:spPr>
          <a:xfrm>
            <a:off x="8961119" y="1737360"/>
            <a:ext cx="2514600" cy="640080"/>
          </a:xfrm>
          <a:prstGeom prst="rect">
            <a:avLst/>
          </a:prstGeom>
          <a:noFill/>
        </p:spPr>
        <p:txBody>
          <a:bodyPr wrap="square" anchor="ctr" lIns="45720" rIns="45720">
            <a:spAutoFit/>
          </a:bodyPr>
          <a:lstStyle/>
          <a:p>
            <a:pPr algn="l">
              <a:spcAft>
                <a:spcPts val="600"/>
              </a:spcAft>
            </a:pPr>
            <a:r>
              <a:rPr sz="1800" b="1" i="0">
                <a:solidFill>
                  <a:srgbClr val="12372A"/>
                </a:solidFill>
                <a:latin typeface="Cambria"/>
              </a:rPr>
              <a:t>Win back 249 customers</a:t>
            </a:r>
          </a:p>
        </p:txBody>
      </p:sp>
      <p:sp>
        <p:nvSpPr>
          <p:cNvPr id="17" name="TextBox 16"/>
          <p:cNvSpPr txBox="1"/>
          <p:nvPr/>
        </p:nvSpPr>
        <p:spPr>
          <a:xfrm>
            <a:off x="8275319" y="2468880"/>
            <a:ext cx="3154680" cy="731520"/>
          </a:xfrm>
          <a:prstGeom prst="rect">
            <a:avLst/>
          </a:prstGeom>
          <a:noFill/>
        </p:spPr>
        <p:txBody>
          <a:bodyPr wrap="square" anchor="t" lIns="45720" rIns="45720">
            <a:spAutoFit/>
          </a:bodyPr>
          <a:lstStyle/>
          <a:p>
            <a:pPr algn="l">
              <a:spcAft>
                <a:spcPts val="600"/>
              </a:spcAft>
            </a:pPr>
            <a:r>
              <a:rPr sz="1500" b="0" i="0">
                <a:solidFill>
                  <a:srgbClr val="1B1B1B"/>
                </a:solidFill>
                <a:latin typeface="Calibri"/>
              </a:rPr>
              <a:t>Highest value first, with a random 20% control group.</a:t>
            </a:r>
          </a:p>
        </p:txBody>
      </p:sp>
      <p:sp>
        <p:nvSpPr>
          <p:cNvPr id="18" name="TextBox 17"/>
          <p:cNvSpPr txBox="1"/>
          <p:nvPr/>
        </p:nvSpPr>
        <p:spPr>
          <a:xfrm>
            <a:off x="8275319" y="3200400"/>
            <a:ext cx="3154680" cy="365760"/>
          </a:xfrm>
          <a:prstGeom prst="rect">
            <a:avLst/>
          </a:prstGeom>
          <a:noFill/>
        </p:spPr>
        <p:txBody>
          <a:bodyPr wrap="square" anchor="t" lIns="45720" rIns="45720">
            <a:spAutoFit/>
          </a:bodyPr>
          <a:lstStyle/>
          <a:p>
            <a:pPr algn="l">
              <a:spcAft>
                <a:spcPts val="600"/>
              </a:spcAft>
            </a:pPr>
            <a:r>
              <a:rPr sz="1300" b="1" i="0">
                <a:solidFill>
                  <a:srgbClr val="EB6834"/>
                </a:solidFill>
                <a:latin typeface="Calibri"/>
              </a:rPr>
              <a:t>KPI: return rate vs control</a:t>
            </a:r>
          </a:p>
        </p:txBody>
      </p:sp>
      <p:sp>
        <p:nvSpPr>
          <p:cNvPr id="19" name="Rounded Rectangle 18"/>
          <p:cNvSpPr/>
          <p:nvPr/>
        </p:nvSpPr>
        <p:spPr>
          <a:xfrm>
            <a:off x="548640" y="3840479"/>
            <a:ext cx="3566160" cy="214884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77240" y="4114799"/>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21" name="TextBox 20"/>
          <p:cNvSpPr txBox="1"/>
          <p:nvPr/>
        </p:nvSpPr>
        <p:spPr>
          <a:xfrm>
            <a:off x="1463040" y="4069079"/>
            <a:ext cx="2514600" cy="640080"/>
          </a:xfrm>
          <a:prstGeom prst="rect">
            <a:avLst/>
          </a:prstGeom>
          <a:noFill/>
        </p:spPr>
        <p:txBody>
          <a:bodyPr wrap="square" anchor="ctr" lIns="45720" rIns="45720">
            <a:spAutoFit/>
          </a:bodyPr>
          <a:lstStyle/>
          <a:p>
            <a:pPr algn="l">
              <a:spcAft>
                <a:spcPts val="600"/>
              </a:spcAft>
            </a:pPr>
            <a:r>
              <a:rPr sz="1800" b="1" i="0">
                <a:solidFill>
                  <a:srgbClr val="12372A"/>
                </a:solidFill>
                <a:latin typeface="Cambria"/>
              </a:rPr>
              <a:t>Investigate Thika</a:t>
            </a:r>
          </a:p>
        </p:txBody>
      </p:sp>
      <p:sp>
        <p:nvSpPr>
          <p:cNvPr id="22" name="TextBox 21"/>
          <p:cNvSpPr txBox="1"/>
          <p:nvPr/>
        </p:nvSpPr>
        <p:spPr>
          <a:xfrm>
            <a:off x="777240" y="4800599"/>
            <a:ext cx="3154680" cy="731520"/>
          </a:xfrm>
          <a:prstGeom prst="rect">
            <a:avLst/>
          </a:prstGeom>
          <a:noFill/>
        </p:spPr>
        <p:txBody>
          <a:bodyPr wrap="square" anchor="t" lIns="45720" rIns="45720">
            <a:spAutoFit/>
          </a:bodyPr>
          <a:lstStyle/>
          <a:p>
            <a:pPr algn="l">
              <a:spcAft>
                <a:spcPts val="600"/>
              </a:spcAft>
            </a:pPr>
            <a:r>
              <a:rPr sz="1500" b="0" i="0">
                <a:solidFill>
                  <a:srgbClr val="1B1B1B"/>
                </a:solidFill>
                <a:latin typeface="Calibri"/>
              </a:rPr>
              <a:t>Check competition and range before cutting stock.</a:t>
            </a:r>
          </a:p>
        </p:txBody>
      </p:sp>
      <p:sp>
        <p:nvSpPr>
          <p:cNvPr id="23" name="TextBox 22"/>
          <p:cNvSpPr txBox="1"/>
          <p:nvPr/>
        </p:nvSpPr>
        <p:spPr>
          <a:xfrm>
            <a:off x="777240" y="5532119"/>
            <a:ext cx="3154680" cy="365760"/>
          </a:xfrm>
          <a:prstGeom prst="rect">
            <a:avLst/>
          </a:prstGeom>
          <a:noFill/>
        </p:spPr>
        <p:txBody>
          <a:bodyPr wrap="square" anchor="t" lIns="45720" rIns="45720">
            <a:spAutoFit/>
          </a:bodyPr>
          <a:lstStyle/>
          <a:p>
            <a:pPr algn="l">
              <a:spcAft>
                <a:spcPts val="600"/>
              </a:spcAft>
            </a:pPr>
            <a:r>
              <a:rPr sz="1300" b="1" i="0">
                <a:solidFill>
                  <a:srgbClr val="EB6834"/>
                </a:solidFill>
                <a:latin typeface="Calibri"/>
              </a:rPr>
              <a:t>KPI: revenue excl. electronics</a:t>
            </a:r>
          </a:p>
        </p:txBody>
      </p:sp>
      <p:sp>
        <p:nvSpPr>
          <p:cNvPr id="24" name="Rounded Rectangle 23"/>
          <p:cNvSpPr/>
          <p:nvPr/>
        </p:nvSpPr>
        <p:spPr>
          <a:xfrm>
            <a:off x="4297679" y="3840479"/>
            <a:ext cx="3566160" cy="214884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26279" y="4114799"/>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5</a:t>
            </a:r>
          </a:p>
        </p:txBody>
      </p:sp>
      <p:sp>
        <p:nvSpPr>
          <p:cNvPr id="26" name="TextBox 25"/>
          <p:cNvSpPr txBox="1"/>
          <p:nvPr/>
        </p:nvSpPr>
        <p:spPr>
          <a:xfrm>
            <a:off x="5212079" y="4069079"/>
            <a:ext cx="2514600" cy="640080"/>
          </a:xfrm>
          <a:prstGeom prst="rect">
            <a:avLst/>
          </a:prstGeom>
          <a:noFill/>
        </p:spPr>
        <p:txBody>
          <a:bodyPr wrap="square" anchor="ctr" lIns="45720" rIns="45720">
            <a:spAutoFit/>
          </a:bodyPr>
          <a:lstStyle/>
          <a:p>
            <a:pPr algn="l">
              <a:spcAft>
                <a:spcPts val="600"/>
              </a:spcAft>
            </a:pPr>
            <a:r>
              <a:rPr sz="1800" b="1" i="0">
                <a:solidFill>
                  <a:srgbClr val="12372A"/>
                </a:solidFill>
                <a:latin typeface="Cambria"/>
              </a:rPr>
              <a:t>Bundles in Mombasa</a:t>
            </a:r>
          </a:p>
        </p:txBody>
      </p:sp>
      <p:sp>
        <p:nvSpPr>
          <p:cNvPr id="27" name="TextBox 26"/>
          <p:cNvSpPr txBox="1"/>
          <p:nvPr/>
        </p:nvSpPr>
        <p:spPr>
          <a:xfrm>
            <a:off x="4526279" y="4800599"/>
            <a:ext cx="3154680" cy="731520"/>
          </a:xfrm>
          <a:prstGeom prst="rect">
            <a:avLst/>
          </a:prstGeom>
          <a:noFill/>
        </p:spPr>
        <p:txBody>
          <a:bodyPr wrap="square" anchor="t" lIns="45720" rIns="45720">
            <a:spAutoFit/>
          </a:bodyPr>
          <a:lstStyle/>
          <a:p>
            <a:pPr algn="l">
              <a:spcAft>
                <a:spcPts val="600"/>
              </a:spcAft>
            </a:pPr>
            <a:r>
              <a:rPr sz="1500" b="0" i="0">
                <a:solidFill>
                  <a:srgbClr val="1B1B1B"/>
                </a:solidFill>
                <a:latin typeface="Calibri"/>
              </a:rPr>
              <a:t>Add-on displays to grow the smallest baskets.</a:t>
            </a:r>
          </a:p>
        </p:txBody>
      </p:sp>
      <p:sp>
        <p:nvSpPr>
          <p:cNvPr id="28" name="TextBox 27"/>
          <p:cNvSpPr txBox="1"/>
          <p:nvPr/>
        </p:nvSpPr>
        <p:spPr>
          <a:xfrm>
            <a:off x="4526279" y="5532119"/>
            <a:ext cx="3154680" cy="365760"/>
          </a:xfrm>
          <a:prstGeom prst="rect">
            <a:avLst/>
          </a:prstGeom>
          <a:noFill/>
        </p:spPr>
        <p:txBody>
          <a:bodyPr wrap="square" anchor="t" lIns="45720" rIns="45720">
            <a:spAutoFit/>
          </a:bodyPr>
          <a:lstStyle/>
          <a:p>
            <a:pPr algn="l">
              <a:spcAft>
                <a:spcPts val="600"/>
              </a:spcAft>
            </a:pPr>
            <a:r>
              <a:rPr sz="1300" b="1" i="0">
                <a:solidFill>
                  <a:srgbClr val="EB6834"/>
                </a:solidFill>
                <a:latin typeface="Calibri"/>
              </a:rPr>
              <a:t>KPI: average order value</a:t>
            </a:r>
          </a:p>
        </p:txBody>
      </p:sp>
      <p:sp>
        <p:nvSpPr>
          <p:cNvPr id="29" name="Rounded Rectangle 28"/>
          <p:cNvSpPr/>
          <p:nvPr/>
        </p:nvSpPr>
        <p:spPr>
          <a:xfrm>
            <a:off x="8046719" y="3840479"/>
            <a:ext cx="3566160" cy="214884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275319" y="4114799"/>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6</a:t>
            </a:r>
          </a:p>
        </p:txBody>
      </p:sp>
      <p:sp>
        <p:nvSpPr>
          <p:cNvPr id="31" name="TextBox 30"/>
          <p:cNvSpPr txBox="1"/>
          <p:nvPr/>
        </p:nvSpPr>
        <p:spPr>
          <a:xfrm>
            <a:off x="8961119" y="4069079"/>
            <a:ext cx="2514600" cy="640080"/>
          </a:xfrm>
          <a:prstGeom prst="rect">
            <a:avLst/>
          </a:prstGeom>
          <a:noFill/>
        </p:spPr>
        <p:txBody>
          <a:bodyPr wrap="square" anchor="ctr" lIns="45720" rIns="45720">
            <a:spAutoFit/>
          </a:bodyPr>
          <a:lstStyle/>
          <a:p>
            <a:pPr algn="l">
              <a:spcAft>
                <a:spcPts val="600"/>
              </a:spcAft>
            </a:pPr>
            <a:r>
              <a:rPr sz="1800" b="1" i="0">
                <a:solidFill>
                  <a:srgbClr val="12372A"/>
                </a:solidFill>
                <a:latin typeface="Cambria"/>
              </a:rPr>
              <a:t>Plan January at 75–85K</a:t>
            </a:r>
          </a:p>
        </p:txBody>
      </p:sp>
      <p:sp>
        <p:nvSpPr>
          <p:cNvPr id="32" name="TextBox 31"/>
          <p:cNvSpPr txBox="1"/>
          <p:nvPr/>
        </p:nvSpPr>
        <p:spPr>
          <a:xfrm>
            <a:off x="8275319" y="4800599"/>
            <a:ext cx="3154680" cy="731520"/>
          </a:xfrm>
          <a:prstGeom prst="rect">
            <a:avLst/>
          </a:prstGeom>
          <a:noFill/>
        </p:spPr>
        <p:txBody>
          <a:bodyPr wrap="square" anchor="t" lIns="45720" rIns="45720">
            <a:spAutoFit/>
          </a:bodyPr>
          <a:lstStyle/>
          <a:p>
            <a:pPr algn="l">
              <a:spcAft>
                <a:spcPts val="600"/>
              </a:spcAft>
            </a:pPr>
            <a:r>
              <a:rPr sz="1500" b="0" i="0">
                <a:solidFill>
                  <a:srgbClr val="1B1B1B"/>
                </a:solidFill>
                <a:latin typeface="Calibri"/>
              </a:rPr>
              <a:t>Build stock from November for the December peak.</a:t>
            </a:r>
          </a:p>
        </p:txBody>
      </p:sp>
      <p:sp>
        <p:nvSpPr>
          <p:cNvPr id="33" name="TextBox 32"/>
          <p:cNvSpPr txBox="1"/>
          <p:nvPr/>
        </p:nvSpPr>
        <p:spPr>
          <a:xfrm>
            <a:off x="8275319" y="5532119"/>
            <a:ext cx="3154680" cy="365760"/>
          </a:xfrm>
          <a:prstGeom prst="rect">
            <a:avLst/>
          </a:prstGeom>
          <a:noFill/>
        </p:spPr>
        <p:txBody>
          <a:bodyPr wrap="square" anchor="t" lIns="45720" rIns="45720">
            <a:spAutoFit/>
          </a:bodyPr>
          <a:lstStyle/>
          <a:p>
            <a:pPr algn="l">
              <a:spcAft>
                <a:spcPts val="600"/>
              </a:spcAft>
            </a:pPr>
            <a:r>
              <a:rPr sz="1300" b="1" i="0">
                <a:solidFill>
                  <a:srgbClr val="EB6834"/>
                </a:solidFill>
                <a:latin typeface="Calibri"/>
              </a:rPr>
              <a:t>KPI: forecast vs plan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anchor="ctr" lIns="45720" rIns="45720">
            <a:spAutoFit/>
          </a:bodyPr>
          <a:lstStyle/>
          <a:p>
            <a:pPr algn="l">
              <a:spcAft>
                <a:spcPts val="600"/>
              </a:spcAft>
            </a:pPr>
            <a:r>
              <a:rPr sz="3000" b="1" i="0">
                <a:solidFill>
                  <a:srgbClr val="12372A"/>
                </a:solidFill>
                <a:latin typeface="Cambria"/>
              </a:rPr>
              <a:t>Limitations and next steps</a:t>
            </a:r>
          </a:p>
        </p:txBody>
      </p:sp>
      <p:sp>
        <p:nvSpPr>
          <p:cNvPr id="3" name="Footer"/>
          <p:cNvSpPr txBox="1"/>
          <p:nvPr/>
        </p:nvSpPr>
        <p:spPr>
          <a:xfrm>
            <a:off x="8869680" y="6355080"/>
            <a:ext cx="2743200" cy="320040"/>
          </a:xfrm>
          <a:prstGeom prst="rect">
            <a:avLst/>
          </a:prstGeom>
          <a:noFill/>
        </p:spPr>
        <p:txBody>
          <a:bodyPr wrap="square" anchor="t" lIns="45720" rIns="45720">
            <a:spAutoFit/>
          </a:bodyPr>
          <a:lstStyle/>
          <a:p>
            <a:pPr algn="r">
              <a:spcAft>
                <a:spcPts val="600"/>
              </a:spcAft>
            </a:pPr>
            <a:r>
              <a:rPr sz="1000" b="0" i="0">
                <a:solidFill>
                  <a:srgbClr val="5F6B66"/>
                </a:solidFill>
                <a:latin typeface="Calibri"/>
              </a:rPr>
              <a:t>Duka Bora capstone  |  16</a:t>
            </a:r>
          </a:p>
        </p:txBody>
      </p:sp>
      <p:sp>
        <p:nvSpPr>
          <p:cNvPr id="4" name="Rounded Rectangle 3"/>
          <p:cNvSpPr/>
          <p:nvPr/>
        </p:nvSpPr>
        <p:spPr>
          <a:xfrm>
            <a:off x="548640" y="1554480"/>
            <a:ext cx="5440680" cy="448056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4937760" cy="4206240"/>
          </a:xfrm>
          <a:prstGeom prst="rect">
            <a:avLst/>
          </a:prstGeom>
          <a:noFill/>
        </p:spPr>
        <p:txBody>
          <a:bodyPr wrap="square" anchor="t" lIns="45720" rIns="45720">
            <a:spAutoFit/>
          </a:bodyPr>
          <a:lstStyle/>
          <a:p>
            <a:pPr algn="l">
              <a:spcAft>
                <a:spcPts val="1000"/>
              </a:spcAft>
            </a:pPr>
            <a:r>
              <a:rPr sz="2200" b="1" i="0">
                <a:solidFill>
                  <a:srgbClr val="12372A"/>
                </a:solidFill>
                <a:latin typeface="Cambria"/>
              </a:rPr>
              <a:t>Limitations</a:t>
            </a:r>
          </a:p>
          <a:p>
            <a:pPr algn="l" marL="228600" indent="-182880">
              <a:spcAft>
                <a:spcPts val="1000"/>
              </a:spcAft>
              <a:buChar char="•"/>
            </a:pPr>
            <a:r>
              <a:rPr sz="1600" b="0" i="0">
                <a:solidFill>
                  <a:srgbClr val="1B1B1B"/>
                </a:solidFill>
                <a:latin typeface="Calibri"/>
              </a:rPr>
              <a:t>Synthetic data: methods transfer, figures do not</a:t>
            </a:r>
          </a:p>
          <a:p>
            <a:pPr algn="l" marL="228600" indent="-182880">
              <a:spcAft>
                <a:spcPts val="1000"/>
              </a:spcAft>
              <a:buChar char="•"/>
            </a:pPr>
            <a:r>
              <a:rPr sz="1600" b="0" i="0">
                <a:solidFill>
                  <a:srgbClr val="1B1B1B"/>
                </a:solidFill>
                <a:latin typeface="Calibri"/>
              </a:rPr>
              <a:t>Two years: no validated seasonal model; 6 test months</a:t>
            </a:r>
          </a:p>
          <a:p>
            <a:pPr algn="l" marL="228600" indent="-182880">
              <a:spcAft>
                <a:spcPts val="1000"/>
              </a:spcAft>
              <a:buChar char="•"/>
            </a:pPr>
            <a:r>
              <a:rPr sz="1600" b="0" i="0">
                <a:solidFill>
                  <a:srgbClr val="1B1B1B"/>
                </a:solidFill>
                <a:latin typeface="Calibri"/>
              </a:rPr>
              <a:t>Observational: promotion and loyalty effects are associations</a:t>
            </a:r>
          </a:p>
          <a:p>
            <a:pPr algn="l" marL="228600" indent="-182880">
              <a:spcAft>
                <a:spcPts val="1000"/>
              </a:spcAft>
              <a:buChar char="•"/>
            </a:pPr>
            <a:r>
              <a:rPr sz="1600" b="0" i="0">
                <a:solidFill>
                  <a:srgbClr val="1B1B1B"/>
                </a:solidFill>
                <a:latin typeface="Calibri"/>
              </a:rPr>
              <a:t>Small churn samples; probabilities are rankings, not calibrated</a:t>
            </a:r>
          </a:p>
          <a:p>
            <a:pPr algn="l" marL="228600" indent="-182880">
              <a:spcAft>
                <a:spcPts val="1000"/>
              </a:spcAft>
              <a:buChar char="•"/>
            </a:pPr>
            <a:r>
              <a:rPr sz="1600" b="0" i="0">
                <a:solidFill>
                  <a:srgbClr val="1B1B1B"/>
                </a:solidFill>
                <a:latin typeface="Calibri"/>
              </a:rPr>
              <a:t>No data on competitors, stock-outs or the economy</a:t>
            </a:r>
          </a:p>
        </p:txBody>
      </p:sp>
      <p:sp>
        <p:nvSpPr>
          <p:cNvPr id="6" name="Rounded Rectangle 5"/>
          <p:cNvSpPr/>
          <p:nvPr/>
        </p:nvSpPr>
        <p:spPr>
          <a:xfrm>
            <a:off x="6172200" y="1554480"/>
            <a:ext cx="5440680" cy="4480560"/>
          </a:xfrm>
          <a:prstGeom prst="roundRect">
            <a:avLst>
              <a:gd name="adj" fmla="val 8000"/>
            </a:avLst>
          </a:prstGeom>
          <a:solidFill>
            <a:srgbClr val="E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737360"/>
            <a:ext cx="4937760" cy="4206240"/>
          </a:xfrm>
          <a:prstGeom prst="rect">
            <a:avLst/>
          </a:prstGeom>
          <a:noFill/>
        </p:spPr>
        <p:txBody>
          <a:bodyPr wrap="square" anchor="t" lIns="45720" rIns="45720">
            <a:spAutoFit/>
          </a:bodyPr>
          <a:lstStyle/>
          <a:p>
            <a:pPr algn="l">
              <a:spcAft>
                <a:spcPts val="1000"/>
              </a:spcAft>
            </a:pPr>
            <a:r>
              <a:rPr sz="2200" b="1" i="0">
                <a:solidFill>
                  <a:srgbClr val="12372A"/>
                </a:solidFill>
                <a:latin typeface="Cambria"/>
              </a:rPr>
              <a:t>Next steps</a:t>
            </a:r>
          </a:p>
          <a:p>
            <a:pPr algn="l" marL="228600" indent="-182880">
              <a:spcAft>
                <a:spcPts val="1000"/>
              </a:spcAft>
              <a:buChar char="•"/>
            </a:pPr>
            <a:r>
              <a:rPr sz="1600" b="0" i="0">
                <a:solidFill>
                  <a:srgbClr val="1B1B1B"/>
                </a:solidFill>
                <a:latin typeface="Calibri"/>
              </a:rPr>
              <a:t>Seasonal forecast (Holt-Winters or SARIMA) with 3+ years of data</a:t>
            </a:r>
          </a:p>
          <a:p>
            <a:pPr algn="l" marL="228600" indent="-182880">
              <a:spcAft>
                <a:spcPts val="1000"/>
              </a:spcAft>
              <a:buChar char="•"/>
            </a:pPr>
            <a:r>
              <a:rPr sz="1600" b="0" i="0">
                <a:solidFill>
                  <a:srgbClr val="1B1B1B"/>
                </a:solidFill>
                <a:latin typeface="Calibri"/>
              </a:rPr>
              <a:t>Randomized promotion and win-back trials</a:t>
            </a:r>
          </a:p>
          <a:p>
            <a:pPr algn="l" marL="228600" indent="-182880">
              <a:spcAft>
                <a:spcPts val="1000"/>
              </a:spcAft>
              <a:buChar char="•"/>
            </a:pPr>
            <a:r>
              <a:rPr sz="1600" b="0" i="0">
                <a:solidFill>
                  <a:srgbClr val="1B1B1B"/>
                </a:solidFill>
                <a:latin typeface="Calibri"/>
              </a:rPr>
              <a:t>Basket analysis to design the Mombasa bundles</a:t>
            </a:r>
          </a:p>
          <a:p>
            <a:pPr algn="l" marL="228600" indent="-182880">
              <a:spcAft>
                <a:spcPts val="1000"/>
              </a:spcAft>
              <a:buChar char="•"/>
            </a:pPr>
            <a:r>
              <a:rPr sz="1600" b="0" i="0">
                <a:solidFill>
                  <a:srgbClr val="1B1B1B"/>
                </a:solidFill>
                <a:latin typeface="Calibri"/>
              </a:rPr>
              <a:t>Customer lifetime value to prioritize retention spend</a:t>
            </a:r>
          </a:p>
          <a:p>
            <a:pPr algn="l" marL="228600" indent="-182880">
              <a:spcAft>
                <a:spcPts val="1000"/>
              </a:spcAft>
              <a:buChar char="•"/>
            </a:pPr>
            <a:r>
              <a:rPr sz="1600" b="0" i="0">
                <a:solidFill>
                  <a:srgbClr val="1B1B1B"/>
                </a:solidFill>
                <a:latin typeface="Calibri"/>
              </a:rPr>
              <a:t>Automated refresh from PostgreSQL to Power BI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372A"/>
        </a:solidFill>
        <a:effectLst/>
      </p:bgPr>
    </p:bg>
    <p:spTree>
      <p:nvGrpSpPr>
        <p:cNvPr id="1" name=""/>
        <p:cNvGrpSpPr/>
        <p:nvPr/>
      </p:nvGrpSpPr>
      <p:grpSpPr/>
      <p:sp>
        <p:nvSpPr>
          <p:cNvPr id="2" name="TextBox 1"/>
          <p:cNvSpPr txBox="1"/>
          <p:nvPr/>
        </p:nvSpPr>
        <p:spPr>
          <a:xfrm>
            <a:off x="731520" y="1828800"/>
            <a:ext cx="10515600" cy="1097280"/>
          </a:xfrm>
          <a:prstGeom prst="rect">
            <a:avLst/>
          </a:prstGeom>
          <a:noFill/>
        </p:spPr>
        <p:txBody>
          <a:bodyPr wrap="square" anchor="t" lIns="45720" rIns="45720">
            <a:spAutoFit/>
          </a:bodyPr>
          <a:lstStyle/>
          <a:p>
            <a:pPr algn="l">
              <a:spcAft>
                <a:spcPts val="600"/>
              </a:spcAft>
            </a:pPr>
            <a:r>
              <a:rPr sz="4800" b="1" i="0">
                <a:solidFill>
                  <a:srgbClr val="FFFFFF"/>
                </a:solidFill>
                <a:latin typeface="Cambria"/>
              </a:rPr>
              <a:t>Thank you. Questions?</a:t>
            </a:r>
          </a:p>
        </p:txBody>
      </p:sp>
      <p:sp>
        <p:nvSpPr>
          <p:cNvPr id="3" name="TextBox 2"/>
          <p:cNvSpPr txBox="1"/>
          <p:nvPr/>
        </p:nvSpPr>
        <p:spPr>
          <a:xfrm>
            <a:off x="731520" y="3108960"/>
            <a:ext cx="10515600" cy="1463040"/>
          </a:xfrm>
          <a:prstGeom prst="rect">
            <a:avLst/>
          </a:prstGeom>
          <a:noFill/>
        </p:spPr>
        <p:txBody>
          <a:bodyPr wrap="square" anchor="t" lIns="45720" rIns="45720">
            <a:spAutoFit/>
          </a:bodyPr>
          <a:lstStyle/>
          <a:p>
            <a:pPr algn="l">
              <a:spcAft>
                <a:spcPts val="600"/>
              </a:spcAft>
            </a:pPr>
            <a:r>
              <a:rPr sz="2200" b="0" i="0">
                <a:solidFill>
                  <a:srgbClr val="DCEBE3"/>
                </a:solidFill>
                <a:latin typeface="Calibri"/>
              </a:rPr>
              <a:t>Clothing earns the profit, prices drive the growth, and 249 valuable customers are waiting to be won back.</a:t>
            </a:r>
          </a:p>
        </p:txBody>
      </p:sp>
      <p:sp>
        <p:nvSpPr>
          <p:cNvPr id="4" name="TextBox 3"/>
          <p:cNvSpPr txBox="1"/>
          <p:nvPr/>
        </p:nvSpPr>
        <p:spPr>
          <a:xfrm>
            <a:off x="731520" y="5029200"/>
            <a:ext cx="10515600" cy="822960"/>
          </a:xfrm>
          <a:prstGeom prst="rect">
            <a:avLst/>
          </a:prstGeom>
          <a:noFill/>
        </p:spPr>
        <p:txBody>
          <a:bodyPr wrap="square" anchor="t" lIns="45720" rIns="45720">
            <a:spAutoFit/>
          </a:bodyPr>
          <a:lstStyle/>
          <a:p>
            <a:pPr algn="l">
              <a:spcAft>
                <a:spcPts val="200"/>
              </a:spcAft>
            </a:pPr>
            <a:r>
              <a:rPr sz="1600" b="0" i="0">
                <a:solidFill>
                  <a:srgbClr val="FFFFFF"/>
                </a:solidFill>
                <a:latin typeface="Calibri"/>
              </a:rPr>
              <a:t>github.com/jonathan-kiplagat/kenyan-retail-customer-sales-intelligence</a:t>
            </a:r>
          </a:p>
          <a:p>
            <a:pPr algn="l">
              <a:spcAft>
                <a:spcPts val="200"/>
              </a:spcAft>
            </a:pPr>
            <a:r>
              <a:rPr sz="1600" b="0" i="0">
                <a:solidFill>
                  <a:srgbClr val="FFFFFF"/>
                </a:solidFill>
                <a:latin typeface="Calibri"/>
              </a:rPr>
              <a:t>Full report, methodology, SQL documentation and model evaluation in the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and Sales Intelligence for a Kenyan Retailer</dc:title>
  <dc:subject/>
  <dc:creator>Jonathan Kiplagat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